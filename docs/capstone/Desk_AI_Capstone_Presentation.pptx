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02920"/>
            <a:ext cx="10362895" cy="1645920"/>
          </a:xfrm>
          <a:prstGeom prst="rect">
            <a:avLst/>
          </a:prstGeom>
          <a:noFill/>
        </p:spPr>
        <p:txBody>
          <a:bodyPr wrap="square">
            <a:spAutoFit/>
          </a:bodyPr>
          <a:lstStyle/>
          <a:p>
            <a:pPr algn="ctr">
              <a:defRPr sz="2100" b="1">
                <a:solidFill>
                  <a:srgbClr val="1B365D"/>
                </a:solidFill>
                <a:latin typeface="Calibri"/>
              </a:defRPr>
            </a:pPr>
            <a:r>
              <a:t>DESK-AI: AN AUTONOMOUS, LOCAL-FIRST CONTINUOUS</a:t>
            </a:r>
            <a:br/>
            <a:r>
              <a:t>SCREEN &amp; AUDIO CONTEXT ENGINE FOR AGENTIC COMPUTING</a:t>
            </a:r>
          </a:p>
          <a:p>
            <a:pPr algn="ctr">
              <a:spcBef>
                <a:spcPts val="800"/>
              </a:spcBef>
              <a:defRPr sz="1300" b="1">
                <a:solidFill>
                  <a:srgbClr val="0F172A"/>
                </a:solidFill>
                <a:latin typeface="Calibri"/>
              </a:defRPr>
            </a:pPr>
            <a:r>
              <a:t>“FROM MULTIMODAL DESKTOP INGESTION TO LOCAL ZERO-KNOWLEDGE EPISODIC REASONING”</a:t>
            </a:r>
          </a:p>
        </p:txBody>
      </p:sp>
      <p:pic>
        <p:nvPicPr>
          <p:cNvPr id="3" name="Picture 2" descr="jiit_crest_only.png"/>
          <p:cNvPicPr>
            <a:picLocks noChangeAspect="1"/>
          </p:cNvPicPr>
          <p:nvPr/>
        </p:nvPicPr>
        <p:blipFill>
          <a:blip r:embed="rId2"/>
          <a:stretch>
            <a:fillRect/>
          </a:stretch>
        </p:blipFill>
        <p:spPr>
          <a:xfrm>
            <a:off x="5120640" y="2057400"/>
            <a:ext cx="1947672" cy="1645920"/>
          </a:xfrm>
          <a:prstGeom prst="rect">
            <a:avLst/>
          </a:prstGeom>
        </p:spPr>
      </p:pic>
      <p:sp>
        <p:nvSpPr>
          <p:cNvPr id="4" name="TextBox 3"/>
          <p:cNvSpPr txBox="1"/>
          <p:nvPr/>
        </p:nvSpPr>
        <p:spPr>
          <a:xfrm>
            <a:off x="914400" y="3977639"/>
            <a:ext cx="4114800" cy="1645920"/>
          </a:xfrm>
          <a:prstGeom prst="rect">
            <a:avLst/>
          </a:prstGeom>
          <a:noFill/>
        </p:spPr>
        <p:txBody>
          <a:bodyPr wrap="square">
            <a:spAutoFit/>
          </a:bodyPr>
          <a:lstStyle/>
          <a:p>
            <a:pPr>
              <a:defRPr b="1" sz="1300">
                <a:solidFill>
                  <a:srgbClr val="0F172A"/>
                </a:solidFill>
              </a:defRPr>
            </a:pPr>
            <a:r>
              <a:t>Presented by:</a:t>
            </a:r>
          </a:p>
          <a:p>
            <a:pPr>
              <a:spcBef>
                <a:spcPts val="200"/>
              </a:spcBef>
              <a:defRPr sz="1200" b="1">
                <a:solidFill>
                  <a:srgbClr val="1E293B"/>
                </a:solidFill>
              </a:defRPr>
            </a:pPr>
            <a:r>
              <a:t>Sauhard Dubey (9923102092)</a:t>
            </a:r>
          </a:p>
          <a:p>
            <a:pPr>
              <a:spcBef>
                <a:spcPts val="200"/>
              </a:spcBef>
              <a:defRPr sz="1200" b="1">
                <a:solidFill>
                  <a:srgbClr val="1E293B"/>
                </a:solidFill>
              </a:defRPr>
            </a:pPr>
            <a:r>
              <a:t>Anubhav Maurya (9923102097)</a:t>
            </a:r>
          </a:p>
          <a:p>
            <a:pPr>
              <a:spcBef>
                <a:spcPts val="200"/>
              </a:spcBef>
              <a:defRPr sz="1200" b="1">
                <a:solidFill>
                  <a:srgbClr val="1E293B"/>
                </a:solidFill>
              </a:defRPr>
            </a:pPr>
            <a:r>
              <a:t>Mahatva Singh (9923102005)</a:t>
            </a:r>
          </a:p>
        </p:txBody>
      </p:sp>
      <p:sp>
        <p:nvSpPr>
          <p:cNvPr id="5" name="TextBox 4"/>
          <p:cNvSpPr txBox="1"/>
          <p:nvPr/>
        </p:nvSpPr>
        <p:spPr>
          <a:xfrm>
            <a:off x="7315200" y="3977639"/>
            <a:ext cx="3931920" cy="1645920"/>
          </a:xfrm>
          <a:prstGeom prst="rect">
            <a:avLst/>
          </a:prstGeom>
          <a:noFill/>
        </p:spPr>
        <p:txBody>
          <a:bodyPr wrap="square">
            <a:spAutoFit/>
          </a:bodyPr>
          <a:lstStyle/>
          <a:p>
            <a:pPr algn="r">
              <a:defRPr b="1" sz="1300">
                <a:solidFill>
                  <a:srgbClr val="0F172A"/>
                </a:solidFill>
              </a:defRPr>
            </a:pPr>
            <a:r>
              <a:t>Under the Supervision of:</a:t>
            </a:r>
          </a:p>
          <a:p>
            <a:pPr algn="r">
              <a:spcBef>
                <a:spcPts val="1000"/>
              </a:spcBef>
              <a:defRPr sz="1300" b="1">
                <a:solidFill>
                  <a:srgbClr val="1E293B"/>
                </a:solidFill>
              </a:defRPr>
            </a:pPr>
            <a:r>
              <a:t>Dr. Ruchi Singh</a:t>
            </a:r>
          </a:p>
        </p:txBody>
      </p:sp>
      <p:sp>
        <p:nvSpPr>
          <p:cNvPr id="6" name="TextBox 5"/>
          <p:cNvSpPr txBox="1"/>
          <p:nvPr/>
        </p:nvSpPr>
        <p:spPr>
          <a:xfrm>
            <a:off x="1828800" y="5577840"/>
            <a:ext cx="8534095" cy="914400"/>
          </a:xfrm>
          <a:prstGeom prst="rect">
            <a:avLst/>
          </a:prstGeom>
          <a:noFill/>
        </p:spPr>
        <p:txBody>
          <a:bodyPr wrap="none">
            <a:spAutoFit/>
          </a:bodyPr>
          <a:lstStyle/>
          <a:p>
            <a:pPr algn="ctr">
              <a:defRPr b="1" sz="1300">
                <a:solidFill>
                  <a:srgbClr val="0F172A"/>
                </a:solidFill>
              </a:defRPr>
            </a:pPr>
            <a:r>
              <a:t>Department of ECE / CSE</a:t>
            </a:r>
          </a:p>
          <a:p>
            <a:pPr algn="ctr">
              <a:spcBef>
                <a:spcPts val="200"/>
              </a:spcBef>
              <a:defRPr b="1" sz="1250">
                <a:solidFill>
                  <a:srgbClr val="64748B"/>
                </a:solidFill>
              </a:defRPr>
            </a:pPr>
            <a:r>
              <a:t>Jaypee Institute of Information Technology, Noida, U.P.,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1005840"/>
          </a:xfrm>
          <a:prstGeom prst="rect">
            <a:avLst/>
          </a:prstGeom>
          <a:noFill/>
        </p:spPr>
        <p:txBody>
          <a:bodyPr wrap="square" lIns="0" tIns="0" rIns="0" bIns="0">
            <a:spAutoFit/>
          </a:bodyPr>
          <a:lstStyle/>
          <a:p>
            <a:pPr algn="l">
              <a:defRPr sz="2200" b="1">
                <a:solidFill>
                  <a:srgbClr val="0F172A"/>
                </a:solidFill>
                <a:latin typeface="Calibri"/>
              </a:defRPr>
            </a:pPr>
            <a:r>
              <a:t>Table of Contents</a:t>
            </a:r>
          </a:p>
          <a:p>
            <a:pPr>
              <a:spcBef>
                <a:spcPts val="300"/>
              </a:spcBef>
              <a:defRPr sz="1200" i="1">
                <a:solidFill>
                  <a:srgbClr val="64748B"/>
                </a:solidFill>
                <a:latin typeface="Calibri"/>
              </a:defRPr>
            </a:pPr>
            <a:r>
              <a:t>Comprehensive Roadmap of the Capstone Project Presentation</a:t>
            </a:r>
          </a:p>
        </p:txBody>
      </p:sp>
      <p:sp>
        <p:nvSpPr>
          <p:cNvPr id="3" name="TextBox 2"/>
          <p:cNvSpPr txBox="1"/>
          <p:nvPr/>
        </p:nvSpPr>
        <p:spPr>
          <a:xfrm>
            <a:off x="1097280" y="1828800"/>
            <a:ext cx="4754880" cy="4114800"/>
          </a:xfrm>
          <a:prstGeom prst="rect">
            <a:avLst/>
          </a:prstGeom>
          <a:noFill/>
        </p:spPr>
        <p:txBody>
          <a:bodyPr wrap="none">
            <a:spAutoFit/>
          </a:bodyPr>
          <a:lstStyle/>
          <a:p>
            <a:pPr>
              <a:spcAft>
                <a:spcPts val="1000"/>
              </a:spcAft>
              <a:defRPr b="1" sz="1300">
                <a:solidFill>
                  <a:srgbClr val="2563EB"/>
                </a:solidFill>
              </a:defRPr>
            </a:pPr>
            <a:r>
              <a:t>PART I: RESEARCH &amp; MOTIVATION</a:t>
            </a:r>
          </a:p>
          <a:p>
            <a:pPr>
              <a:spcAft>
                <a:spcPts val="800"/>
              </a:spcAft>
              <a:defRPr sz="1200">
                <a:solidFill>
                  <a:srgbClr val="1E293B"/>
                </a:solidFill>
              </a:defRPr>
            </a:pPr>
            <a:r>
              <a:t>• Project Scope: Sovereign Ambient Intelligence</a:t>
            </a:r>
          </a:p>
          <a:p>
            <a:pPr>
              <a:spcAft>
                <a:spcPts val="800"/>
              </a:spcAft>
              <a:defRPr sz="1200">
                <a:solidFill>
                  <a:srgbClr val="1E293B"/>
                </a:solidFill>
              </a:defRPr>
            </a:pPr>
            <a:r>
              <a:t>• Problem Formulation &amp; End-Term Work Summary</a:t>
            </a:r>
          </a:p>
          <a:p>
            <a:pPr>
              <a:spcAft>
                <a:spcPts val="800"/>
              </a:spcAft>
              <a:defRPr sz="1200">
                <a:solidFill>
                  <a:srgbClr val="1E293B"/>
                </a:solidFill>
              </a:defRPr>
            </a:pPr>
            <a:r>
              <a:t>• Literature Survey: Evolution of Desktop Memory</a:t>
            </a:r>
          </a:p>
          <a:p>
            <a:pPr>
              <a:spcAft>
                <a:spcPts val="800"/>
              </a:spcAft>
              <a:defRPr sz="1200">
                <a:solidFill>
                  <a:srgbClr val="1E293B"/>
                </a:solidFill>
              </a:defRPr>
            </a:pPr>
            <a:r>
              <a:t>• Problem Statement: The Digital Context Bottleneck</a:t>
            </a:r>
          </a:p>
          <a:p>
            <a:pPr>
              <a:spcAft>
                <a:spcPts val="800"/>
              </a:spcAft>
              <a:defRPr sz="1200">
                <a:solidFill>
                  <a:srgbClr val="1E293B"/>
                </a:solidFill>
              </a:defRPr>
            </a:pPr>
            <a:r>
              <a:t>• Introducing Desk-AI: The Local-First Paradigm</a:t>
            </a:r>
          </a:p>
          <a:p>
            <a:pPr>
              <a:spcAft>
                <a:spcPts val="800"/>
              </a:spcAft>
              <a:defRPr sz="1200">
                <a:solidFill>
                  <a:srgbClr val="1E293B"/>
                </a:solidFill>
              </a:defRPr>
            </a:pPr>
            <a:r>
              <a:t>• System Architecture: Multi-Tier Modular Topology</a:t>
            </a:r>
          </a:p>
          <a:p>
            <a:pPr>
              <a:spcAft>
                <a:spcPts val="800"/>
              </a:spcAft>
              <a:defRPr sz="1200">
                <a:solidFill>
                  <a:srgbClr val="1E293B"/>
                </a:solidFill>
              </a:defRPr>
            </a:pPr>
            <a:r>
              <a:t>• End-to-End Multimodal Ingestion Pipeline</a:t>
            </a:r>
          </a:p>
        </p:txBody>
      </p:sp>
      <p:sp>
        <p:nvSpPr>
          <p:cNvPr id="4" name="TextBox 3"/>
          <p:cNvSpPr txBox="1"/>
          <p:nvPr/>
        </p:nvSpPr>
        <p:spPr>
          <a:xfrm>
            <a:off x="6217920" y="1828800"/>
            <a:ext cx="4937760" cy="4114800"/>
          </a:xfrm>
          <a:prstGeom prst="rect">
            <a:avLst/>
          </a:prstGeom>
          <a:noFill/>
        </p:spPr>
        <p:txBody>
          <a:bodyPr wrap="none">
            <a:spAutoFit/>
          </a:bodyPr>
          <a:lstStyle/>
          <a:p>
            <a:pPr>
              <a:spcAft>
                <a:spcPts val="1000"/>
              </a:spcAft>
              <a:defRPr b="1" sz="1300">
                <a:solidFill>
                  <a:srgbClr val="2563EB"/>
                </a:solidFill>
              </a:defRPr>
            </a:pPr>
            <a:r>
              <a:t>PART II: SYSTEMS ENGINEERING &amp; BENCHMARKS</a:t>
            </a:r>
          </a:p>
          <a:p>
            <a:pPr>
              <a:spcAft>
                <a:spcPts val="700"/>
              </a:spcAft>
              <a:defRPr sz="1200">
                <a:solidFill>
                  <a:srgbClr val="1E293B"/>
                </a:solidFill>
              </a:defRPr>
            </a:pPr>
            <a:r>
              <a:t>• Deep Dive: Event-Driven Screen Ingestion &amp; dHash</a:t>
            </a:r>
          </a:p>
          <a:p>
            <a:pPr>
              <a:spcAft>
                <a:spcPts val="700"/>
              </a:spcAft>
              <a:defRPr sz="1200">
                <a:solidFill>
                  <a:srgbClr val="1E293B"/>
                </a:solidFill>
              </a:defRPr>
            </a:pPr>
            <a:r>
              <a:t>• Deep Dive: Dual-Stream Audio, Silero VAD &amp; Local STT</a:t>
            </a:r>
          </a:p>
          <a:p>
            <a:pPr>
              <a:spcAft>
                <a:spcPts val="700"/>
              </a:spcAft>
              <a:defRPr sz="1200">
                <a:solidFill>
                  <a:srgbClr val="1E293B"/>
                </a:solidFill>
              </a:defRPr>
            </a:pPr>
            <a:r>
              <a:t>• Deep Dive: Zero-Knowledge DESKVAULT1 Encryption</a:t>
            </a:r>
          </a:p>
          <a:p>
            <a:pPr>
              <a:spcAft>
                <a:spcPts val="700"/>
              </a:spcAft>
              <a:defRPr sz="1200">
                <a:solidFill>
                  <a:srgbClr val="1E293B"/>
                </a:solidFill>
              </a:defRPr>
            </a:pPr>
            <a:r>
              <a:t>• Backend Data Architecture: SQLite WAL &amp; FTS5 Indexing</a:t>
            </a:r>
          </a:p>
          <a:p>
            <a:pPr>
              <a:spcAft>
                <a:spcPts val="700"/>
              </a:spcAft>
              <a:defRPr sz="1200">
                <a:solidFill>
                  <a:srgbClr val="1E293B"/>
                </a:solidFill>
              </a:defRPr>
            </a:pPr>
            <a:r>
              <a:t>• User Interface: Desktop DVR Timeline &amp; Control Center</a:t>
            </a:r>
          </a:p>
          <a:p>
            <a:pPr>
              <a:spcAft>
                <a:spcPts val="700"/>
              </a:spcAft>
              <a:defRPr sz="1200">
                <a:solidFill>
                  <a:srgbClr val="1E293B"/>
                </a:solidFill>
              </a:defRPr>
            </a:pPr>
            <a:r>
              <a:t>• Agent Interoperability: Model Context Protocol (MCP)</a:t>
            </a:r>
          </a:p>
          <a:p>
            <a:pPr>
              <a:spcAft>
                <a:spcPts val="700"/>
              </a:spcAft>
              <a:defRPr sz="1200">
                <a:solidFill>
                  <a:srgbClr val="1E293B"/>
                </a:solidFill>
              </a:defRPr>
            </a:pPr>
            <a:r>
              <a:t>• Evolution: Mid-Term Prototype vs. End-Term System</a:t>
            </a:r>
          </a:p>
          <a:p>
            <a:pPr>
              <a:spcAft>
                <a:spcPts val="700"/>
              </a:spcAft>
              <a:defRPr sz="1200">
                <a:solidFill>
                  <a:srgbClr val="1E293B"/>
                </a:solidFill>
              </a:defRPr>
            </a:pPr>
            <a:r>
              <a:t>• Experimental Benchmarks &amp; Resource Profiling</a:t>
            </a:r>
          </a:p>
          <a:p>
            <a:pPr>
              <a:spcAft>
                <a:spcPts val="700"/>
              </a:spcAft>
              <a:defRPr sz="1200">
                <a:solidFill>
                  <a:srgbClr val="1E293B"/>
                </a:solidFill>
              </a:defRPr>
            </a:pPr>
            <a:r>
              <a:t>• Why Commercial Systems Fail vs. Desk-AI Advantages</a:t>
            </a:r>
          </a:p>
          <a:p>
            <a:pPr>
              <a:spcAft>
                <a:spcPts val="700"/>
              </a:spcAft>
              <a:defRPr sz="1200">
                <a:solidFill>
                  <a:srgbClr val="1E293B"/>
                </a:solidFill>
              </a:defRPr>
            </a:pPr>
            <a:r>
              <a:t>• Verification, Test Case Matrix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Scope of the Project: Sovereign Ambient Intelligence</a:t>
            </a:r>
          </a:p>
          <a:p>
            <a:pPr>
              <a:spcBef>
                <a:spcPts val="300"/>
              </a:spcBef>
              <a:defRPr sz="1200" i="1">
                <a:solidFill>
                  <a:srgbClr val="64748B"/>
                </a:solidFill>
                <a:latin typeface="Calibri"/>
              </a:defRPr>
            </a:pPr>
            <a:r>
              <a:t>Addressing the Universal Context Bottleneck Without Cloud Surveillance</a:t>
            </a:r>
          </a:p>
        </p:txBody>
      </p:sp>
      <p:sp>
        <p:nvSpPr>
          <p:cNvPr id="3" name="TextBox 2"/>
          <p:cNvSpPr txBox="1"/>
          <p:nvPr/>
        </p:nvSpPr>
        <p:spPr>
          <a:xfrm>
            <a:off x="731520" y="1737360"/>
            <a:ext cx="10728655" cy="4389120"/>
          </a:xfrm>
          <a:prstGeom prst="rect">
            <a:avLst/>
          </a:prstGeom>
          <a:noFill/>
        </p:spPr>
        <p:txBody>
          <a:bodyPr wrap="square" lIns="0" tIns="0" rIns="0" bIns="0">
            <a:spAutoFit/>
          </a:bodyPr>
          <a:lstStyle/>
          <a:p>
            <a:pPr>
              <a:spcAft>
                <a:spcPts val="1800"/>
              </a:spcAft>
              <a:defRPr sz="1250">
                <a:latin typeface="Calibri"/>
              </a:defRPr>
            </a:pPr>
            <a:r>
              <a:rPr b="1">
                <a:solidFill>
                  <a:srgbClr val="0F172A"/>
                </a:solidFill>
              </a:rPr>
              <a:t>• Universal Cognitive Bottleneck: </a:t>
            </a:r>
            <a:r>
              <a:rPr>
                <a:solidFill>
                  <a:srgbClr val="1E293B"/>
                </a:solidFill>
              </a:rPr>
              <a:t>Modern knowledge workers navigate dozens of applications daily (IDEs, terminal sessions, browsers, conference calls), absorbing &gt;10 Mbps of multimodal information. Biological episodic memory decays rapidly, inducing severe context re-acquisition latency when recalling terminal commands, fleeting error logs, or meeting decisions.</a:t>
            </a:r>
          </a:p>
          <a:p>
            <a:pPr>
              <a:spcAft>
                <a:spcPts val="1800"/>
              </a:spcAft>
              <a:defRPr sz="1250">
                <a:latin typeface="Calibri"/>
              </a:defRPr>
            </a:pPr>
            <a:r>
              <a:rPr b="1">
                <a:solidFill>
                  <a:srgbClr val="0F172A"/>
                </a:solidFill>
              </a:rPr>
              <a:t>• Zero-Knowledge Sovereign Infrastructure: </a:t>
            </a:r>
            <a:r>
              <a:rPr>
                <a:solidFill>
                  <a:srgbClr val="1E293B"/>
                </a:solidFill>
              </a:rPr>
              <a:t>Unlike commercial cloud-hosted lifeloggers (Otter, Limitless, Recall), Desk-AI is architected from the ground up as a 100% on-device, zero-telemetry engine. All audio waveforms, screen frames, and accessibility text reside exclusively in local storage, guaranteeing full compliance with enterprise security, GDPR, and HIPAA standards.</a:t>
            </a:r>
          </a:p>
          <a:p>
            <a:pPr>
              <a:spcAft>
                <a:spcPts val="1800"/>
              </a:spcAft>
              <a:defRPr sz="1250">
                <a:latin typeface="Calibri"/>
              </a:defRPr>
            </a:pPr>
            <a:r>
              <a:rPr b="1">
                <a:solidFill>
                  <a:srgbClr val="0F172A"/>
                </a:solidFill>
              </a:rPr>
              <a:t>• Cross-Agent Ecosystem Impact: </a:t>
            </a:r>
            <a:r>
              <a:rPr>
                <a:solidFill>
                  <a:srgbClr val="1E293B"/>
                </a:solidFill>
              </a:rPr>
              <a:t>Scientific and software engineering workflows are inherently interdisciplinary. By standardizing continuous screen and audio context over the Model Context Protocol (MCP), Desk-AI bridges human workflow history directly into AI coding agents (Claude, Cursor, Codex), eliminating prompt fatigue and manual copy-pasting.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End-Term Work Summary: Problem Formulation &amp; Its Solution</a:t>
            </a:r>
          </a:p>
          <a:p>
            <a:pPr>
              <a:spcBef>
                <a:spcPts val="300"/>
              </a:spcBef>
              <a:defRPr sz="1200" i="1">
                <a:solidFill>
                  <a:srgbClr val="64748B"/>
                </a:solidFill>
                <a:latin typeface="Calibri"/>
              </a:defRPr>
            </a:pPr>
            <a:r>
              <a:t>Overcoming Computational Overhead, OCR Inaccuracy, and Security Liabilities</a:t>
            </a:r>
          </a:p>
        </p:txBody>
      </p:sp>
      <p:sp>
        <p:nvSpPr>
          <p:cNvPr id="3" name="TextBox 2"/>
          <p:cNvSpPr txBox="1"/>
          <p:nvPr/>
        </p:nvSpPr>
        <p:spPr>
          <a:xfrm>
            <a:off x="731520" y="1645920"/>
            <a:ext cx="10728655" cy="4754880"/>
          </a:xfrm>
          <a:prstGeom prst="rect">
            <a:avLst/>
          </a:prstGeom>
          <a:noFill/>
        </p:spPr>
        <p:txBody>
          <a:bodyPr wrap="square">
            <a:spAutoFit/>
          </a:bodyPr>
          <a:lstStyle/>
          <a:p>
            <a:pPr>
              <a:spcAft>
                <a:spcPts val="400"/>
              </a:spcAft>
              <a:defRPr b="1" sz="1400">
                <a:solidFill>
                  <a:srgbClr val="0F172A"/>
                </a:solidFill>
              </a:defRPr>
            </a:pPr>
            <a:r>
              <a:t>• Problem Identification:</a:t>
            </a:r>
          </a:p>
          <a:p>
            <a:pPr>
              <a:spcAft>
                <a:spcPts val="600"/>
              </a:spcAft>
              <a:defRPr sz="1250">
                <a:solidFill>
                  <a:srgbClr val="1E293B"/>
                </a:solidFill>
              </a:defRPr>
            </a:pPr>
            <a:r>
              <a:t>We identified critical systems bottlenecks in conventional continuous desktop memory implementations:</a:t>
            </a:r>
          </a:p>
          <a:p>
            <a:pPr>
              <a:spcAft>
                <a:spcPts val="400"/>
              </a:spcAft>
              <a:defRPr sz="1200">
                <a:solidFill>
                  <a:srgbClr val="1E293B"/>
                </a:solidFill>
              </a:defRPr>
            </a:pPr>
            <a:r>
              <a:t>  - Continuous fixed-framerate video capture (15–30 FPS) consumes prohibitive CPU cycles (20–40%) and degrades laptop battery life.</a:t>
            </a:r>
          </a:p>
          <a:p>
            <a:pPr>
              <a:spcAft>
                <a:spcPts val="400"/>
              </a:spcAft>
              <a:defRPr sz="1200">
                <a:solidFill>
                  <a:srgbClr val="1E293B"/>
                </a:solidFill>
              </a:defRPr>
            </a:pPr>
            <a:r>
              <a:t>  - Brute-force Optical Character Recognition (OCR) is computationally slow, lossy, and completely ignores semantic UI hierarchies and browser URLs.</a:t>
            </a:r>
          </a:p>
          <a:p>
            <a:pPr>
              <a:spcAft>
                <a:spcPts val="400"/>
              </a:spcAft>
              <a:defRPr sz="1200">
                <a:solidFill>
                  <a:srgbClr val="1E293B"/>
                </a:solidFill>
              </a:defRPr>
            </a:pPr>
            <a:r>
              <a:t>  - Cloud exfiltration and unencrypted local databases expose proprietary intellectual property, passwords, and private conversations.</a:t>
            </a:r>
          </a:p>
          <a:p>
            <a:pPr>
              <a:spcBef>
                <a:spcPts val="1200"/>
              </a:spcBef>
              <a:spcAft>
                <a:spcPts val="600"/>
              </a:spcAft>
              <a:defRPr b="1" sz="1400">
                <a:solidFill>
                  <a:srgbClr val="0F172A"/>
                </a:solidFill>
              </a:defRPr>
            </a:pPr>
            <a:r>
              <a:t>• How We Solved the Above Problems:</a:t>
            </a:r>
          </a:p>
          <a:p>
            <a:pPr>
              <a:spcAft>
                <a:spcPts val="600"/>
              </a:spcAft>
              <a:defRPr sz="1200"/>
            </a:pPr>
            <a:r>
              <a:rPr b="1">
                <a:solidFill>
                  <a:srgbClr val="2563EB"/>
                </a:solidFill>
              </a:rPr>
              <a:t>1. Event-Driven Capture &amp; Perceptual Diffing: </a:t>
            </a:r>
            <a:r>
              <a:rPr>
                <a:solidFill>
                  <a:srgbClr val="1E293B"/>
                </a:solidFill>
              </a:rPr>
              <a:t>Constructed OS event hooks (clicks, window focus, typing pauses) paired with a 64-bit difference hashing (dHash) algorithm, dropping &gt;88% of redundant frames and limiting idle CPU load to &lt;5%.</a:t>
            </a:r>
          </a:p>
          <a:p>
            <a:pPr>
              <a:spcAft>
                <a:spcPts val="600"/>
              </a:spcAft>
              <a:defRPr sz="1200"/>
            </a:pPr>
            <a:r>
              <a:rPr b="1">
                <a:solidFill>
                  <a:srgbClr val="2563EB"/>
                </a:solidFill>
              </a:rPr>
              <a:t>2. Accessibility-First Semantic Ingestion: </a:t>
            </a:r>
            <a:r>
              <a:rPr>
                <a:solidFill>
                  <a:srgbClr val="1E293B"/>
                </a:solidFill>
              </a:rPr>
              <a:t>Traversed native OS accessibility trees (Windows UIA, macOS AXUIElement, Linux AT-SPI) directly from RAM for pixel-perfect text extraction, utilizing on-device OCR strictly as an intelligent fallback.</a:t>
            </a:r>
          </a:p>
          <a:p>
            <a:pPr>
              <a:spcAft>
                <a:spcPts val="600"/>
              </a:spcAft>
              <a:defRPr sz="1200"/>
            </a:pPr>
            <a:r>
              <a:rPr b="1">
                <a:solidFill>
                  <a:srgbClr val="2563EB"/>
                </a:solidFill>
              </a:rPr>
              <a:t>3. Zero-Knowledge Cryptographic Vault &amp; MCP: </a:t>
            </a:r>
            <a:r>
              <a:rPr>
                <a:solidFill>
                  <a:srgbClr val="1E293B"/>
                </a:solidFill>
              </a:rPr>
              <a:t>Engineered the DESKVAULT1 ChaCha20-Poly1305 AEAD container with automated PII redaction and exposed an official Model Context Protocol (MCP) server for local coding agents.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Literature Survey: Evolution of Desktop Memory Systems</a:t>
            </a:r>
          </a:p>
          <a:p>
            <a:pPr>
              <a:spcBef>
                <a:spcPts val="300"/>
              </a:spcBef>
              <a:defRPr sz="1200" i="1">
                <a:solidFill>
                  <a:srgbClr val="64748B"/>
                </a:solidFill>
                <a:latin typeface="Calibri"/>
              </a:defRPr>
            </a:pPr>
            <a:r>
              <a:t>Chronological Taxonomy of Lifelogging, Screen Recorders, and Ambient AI</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011680"/>
                <a:gridCol w="3566160"/>
                <a:gridCol w="3139135"/>
              </a:tblGrid>
              <a:tr h="627017">
                <a:tc>
                  <a:txBody>
                    <a:bodyPr/>
                    <a:lstStyle/>
                    <a:p>
                      <a:pPr algn="l">
                        <a:defRPr sz="1000" b="1">
                          <a:solidFill>
                            <a:srgbClr val="FFFFFF"/>
                          </a:solidFill>
                          <a:latin typeface="Calibri"/>
                        </a:defRPr>
                      </a:pPr>
                      <a:r>
                        <a:t>Era / Approach</a:t>
                      </a:r>
                    </a:p>
                  </a:txBody>
                  <a:tcPr anchor="ctr">
                    <a:solidFill>
                      <a:srgbClr val="1E293B"/>
                    </a:solidFill>
                  </a:tcPr>
                </a:tc>
                <a:tc>
                  <a:txBody>
                    <a:bodyPr/>
                    <a:lstStyle/>
                    <a:p>
                      <a:pPr algn="l">
                        <a:defRPr sz="1000" b="1">
                          <a:solidFill>
                            <a:srgbClr val="FFFFFF"/>
                          </a:solidFill>
                          <a:latin typeface="Calibri"/>
                        </a:defRPr>
                      </a:pPr>
                      <a:r>
                        <a:t>Key Reference</a:t>
                      </a:r>
                    </a:p>
                  </a:txBody>
                  <a:tcPr anchor="ctr">
                    <a:solidFill>
                      <a:srgbClr val="1E293B"/>
                    </a:solidFill>
                  </a:tcPr>
                </a:tc>
                <a:tc>
                  <a:txBody>
                    <a:bodyPr/>
                    <a:lstStyle/>
                    <a:p>
                      <a:pPr algn="l">
                        <a:defRPr sz="1000" b="1">
                          <a:solidFill>
                            <a:srgbClr val="FFFFFF"/>
                          </a:solidFill>
                          <a:latin typeface="Calibri"/>
                        </a:defRPr>
                      </a:pPr>
                      <a:r>
                        <a:t>Major Contribution</a:t>
                      </a:r>
                    </a:p>
                  </a:txBody>
                  <a:tcPr anchor="ctr">
                    <a:solidFill>
                      <a:srgbClr val="1E293B"/>
                    </a:solidFill>
                  </a:tcPr>
                </a:tc>
                <a:tc>
                  <a:txBody>
                    <a:bodyPr/>
                    <a:lstStyle/>
                    <a:p>
                      <a:pPr algn="l">
                        <a:defRPr sz="1000" b="1">
                          <a:solidFill>
                            <a:srgbClr val="FFFFFF"/>
                          </a:solidFill>
                          <a:latin typeface="Calibri"/>
                        </a:defRPr>
                      </a:pPr>
                      <a:r>
                        <a:t>Primary Limitations</a:t>
                      </a:r>
                    </a:p>
                  </a:txBody>
                  <a:tcPr anchor="ctr">
                    <a:solidFill>
                      <a:srgbClr val="1E293B"/>
                    </a:solidFill>
                  </a:tcPr>
                </a:tc>
              </a:tr>
              <a:tr h="627017">
                <a:tc>
                  <a:txBody>
                    <a:bodyPr/>
                    <a:lstStyle/>
                    <a:p>
                      <a:pPr algn="l">
                        <a:defRPr sz="950" b="1">
                          <a:solidFill>
                            <a:srgbClr val="1E293B"/>
                          </a:solidFill>
                          <a:latin typeface="Calibri"/>
                        </a:defRPr>
                      </a:pPr>
                      <a:r>
                        <a:t>Electro-Mechanical Indexing</a:t>
                      </a:r>
                    </a:p>
                  </a:txBody>
                  <a:tcPr anchor="ctr">
                    <a:solidFill>
                      <a:srgbClr val="F8FAFC"/>
                    </a:solidFill>
                  </a:tcPr>
                </a:tc>
                <a:tc>
                  <a:txBody>
                    <a:bodyPr/>
                    <a:lstStyle/>
                    <a:p>
                      <a:pPr algn="l">
                        <a:defRPr sz="950" b="0">
                          <a:solidFill>
                            <a:srgbClr val="1E293B"/>
                          </a:solidFill>
                          <a:latin typeface="Calibri"/>
                        </a:defRPr>
                      </a:pPr>
                      <a:r>
                        <a:t>Bush (1945)</a:t>
                      </a:r>
                    </a:p>
                    <a:p>
                      <a:pPr algn="l">
                        <a:defRPr sz="950" b="0">
                          <a:solidFill>
                            <a:srgbClr val="1E293B"/>
                          </a:solidFill>
                          <a:latin typeface="Calibri"/>
                        </a:defRPr>
                      </a:pPr>
                      <a:r>
                        <a:t>Memex</a:t>
                      </a:r>
                    </a:p>
                  </a:txBody>
                  <a:tcPr anchor="ctr">
                    <a:solidFill>
                      <a:srgbClr val="F8FAFC"/>
                    </a:solidFill>
                  </a:tcPr>
                </a:tc>
                <a:tc>
                  <a:txBody>
                    <a:bodyPr/>
                    <a:lstStyle/>
                    <a:p>
                      <a:pPr algn="l">
                        <a:defRPr sz="950" b="0">
                          <a:solidFill>
                            <a:srgbClr val="1E293B"/>
                          </a:solidFill>
                          <a:latin typeface="Calibri"/>
                        </a:defRPr>
                      </a:pPr>
                      <a:r>
                        <a:t>Conceptualized associative trails across microform desktop records.</a:t>
                      </a:r>
                    </a:p>
                  </a:txBody>
                  <a:tcPr anchor="ctr">
                    <a:solidFill>
                      <a:srgbClr val="F8FAFC"/>
                    </a:solidFill>
                  </a:tcPr>
                </a:tc>
                <a:tc>
                  <a:txBody>
                    <a:bodyPr/>
                    <a:lstStyle/>
                    <a:p>
                      <a:pPr algn="l">
                        <a:defRPr sz="950" b="0">
                          <a:solidFill>
                            <a:srgbClr val="1E293B"/>
                          </a:solidFill>
                          <a:latin typeface="Calibri"/>
                        </a:defRPr>
                      </a:pPr>
                      <a:r>
                        <a:t>Purely theoretical concept; completely lacked digital computing &amp; search.</a:t>
                      </a:r>
                    </a:p>
                  </a:txBody>
                  <a:tcPr anchor="ctr">
                    <a:solidFill>
                      <a:srgbClr val="F8FAFC"/>
                    </a:solidFill>
                  </a:tcPr>
                </a:tc>
              </a:tr>
              <a:tr h="627017">
                <a:tc>
                  <a:txBody>
                    <a:bodyPr/>
                    <a:lstStyle/>
                    <a:p>
                      <a:pPr algn="l">
                        <a:defRPr sz="950" b="1">
                          <a:solidFill>
                            <a:srgbClr val="1E293B"/>
                          </a:solidFill>
                          <a:latin typeface="Calibri"/>
                        </a:defRPr>
                      </a:pPr>
                      <a:r>
                        <a:t>Lifelogging Systems</a:t>
                      </a:r>
                    </a:p>
                  </a:txBody>
                  <a:tcPr anchor="ctr">
                    <a:solidFill>
                      <a:srgbClr val="FFFFFF"/>
                    </a:solidFill>
                  </a:tcPr>
                </a:tc>
                <a:tc>
                  <a:txBody>
                    <a:bodyPr/>
                    <a:lstStyle/>
                    <a:p>
                      <a:pPr algn="l">
                        <a:defRPr sz="950" b="0">
                          <a:solidFill>
                            <a:srgbClr val="1E293B"/>
                          </a:solidFill>
                          <a:latin typeface="Calibri"/>
                        </a:defRPr>
                      </a:pPr>
                      <a:r>
                        <a:t>Gemmell &amp; Bell</a:t>
                      </a:r>
                    </a:p>
                    <a:p>
                      <a:pPr algn="l">
                        <a:defRPr sz="950" b="0">
                          <a:solidFill>
                            <a:srgbClr val="1E293B"/>
                          </a:solidFill>
                          <a:latin typeface="Calibri"/>
                        </a:defRPr>
                      </a:pPr>
                      <a:r>
                        <a:t>(2003) MyLifeBits</a:t>
                      </a:r>
                    </a:p>
                  </a:txBody>
                  <a:tcPr anchor="ctr">
                    <a:solidFill>
                      <a:srgbClr val="FFFFFF"/>
                    </a:solidFill>
                  </a:tcPr>
                </a:tc>
                <a:tc>
                  <a:txBody>
                    <a:bodyPr/>
                    <a:lstStyle/>
                    <a:p>
                      <a:pPr algn="l">
                        <a:defRPr sz="950" b="0">
                          <a:solidFill>
                            <a:srgbClr val="1E293B"/>
                          </a:solidFill>
                          <a:latin typeface="Calibri"/>
                        </a:defRPr>
                      </a:pPr>
                      <a:r>
                        <a:t>Pioneered mass ingestion of digital photos, scanned docs, and audio.</a:t>
                      </a:r>
                    </a:p>
                  </a:txBody>
                  <a:tcPr anchor="ctr">
                    <a:solidFill>
                      <a:srgbClr val="FFFFFF"/>
                    </a:solidFill>
                  </a:tcPr>
                </a:tc>
                <a:tc>
                  <a:txBody>
                    <a:bodyPr/>
                    <a:lstStyle/>
                    <a:p>
                      <a:pPr algn="l">
                        <a:defRPr sz="950" b="0">
                          <a:solidFill>
                            <a:srgbClr val="1E293B"/>
                          </a:solidFill>
                          <a:latin typeface="Calibri"/>
                        </a:defRPr>
                      </a:pPr>
                      <a:r>
                        <a:t>Required massive manual tagging; no automated speech-to-text or NLP.</a:t>
                      </a:r>
                    </a:p>
                  </a:txBody>
                  <a:tcPr anchor="ctr">
                    <a:solidFill>
                      <a:srgbClr val="FFFFFF"/>
                    </a:solidFill>
                  </a:tcPr>
                </a:tc>
              </a:tr>
              <a:tr h="627017">
                <a:tc>
                  <a:txBody>
                    <a:bodyPr/>
                    <a:lstStyle/>
                    <a:p>
                      <a:pPr algn="l">
                        <a:defRPr sz="950" b="1">
                          <a:solidFill>
                            <a:srgbClr val="1E293B"/>
                          </a:solidFill>
                          <a:latin typeface="Calibri"/>
                        </a:defRPr>
                      </a:pPr>
                      <a:r>
                        <a:t>Fixed-FPS Video Loggers</a:t>
                      </a:r>
                    </a:p>
                  </a:txBody>
                  <a:tcPr anchor="ctr">
                    <a:solidFill>
                      <a:srgbClr val="F8FAFC"/>
                    </a:solidFill>
                  </a:tcPr>
                </a:tc>
                <a:tc>
                  <a:txBody>
                    <a:bodyPr/>
                    <a:lstStyle/>
                    <a:p>
                      <a:pPr algn="l">
                        <a:defRPr sz="950" b="0">
                          <a:solidFill>
                            <a:srgbClr val="1E293B"/>
                          </a:solidFill>
                          <a:latin typeface="Calibri"/>
                        </a:defRPr>
                      </a:pPr>
                      <a:r>
                        <a:t>Desktop Recorders</a:t>
                      </a:r>
                    </a:p>
                    <a:p>
                      <a:pPr algn="l">
                        <a:defRPr sz="950" b="0">
                          <a:solidFill>
                            <a:srgbClr val="1E293B"/>
                          </a:solidFill>
                          <a:latin typeface="Calibri"/>
                        </a:defRPr>
                      </a:pPr>
                      <a:r>
                        <a:t>(2010–2018)</a:t>
                      </a:r>
                    </a:p>
                  </a:txBody>
                  <a:tcPr anchor="ctr">
                    <a:solidFill>
                      <a:srgbClr val="F8FAFC"/>
                    </a:solidFill>
                  </a:tcPr>
                </a:tc>
                <a:tc>
                  <a:txBody>
                    <a:bodyPr/>
                    <a:lstStyle/>
                    <a:p>
                      <a:pPr algn="l">
                        <a:defRPr sz="950" b="0">
                          <a:solidFill>
                            <a:srgbClr val="1E293B"/>
                          </a:solidFill>
                          <a:latin typeface="Calibri"/>
                        </a:defRPr>
                      </a:pPr>
                      <a:r>
                        <a:t>Continuous 15–30 FPS screen capture and local video compression.</a:t>
                      </a:r>
                    </a:p>
                  </a:txBody>
                  <a:tcPr anchor="ctr">
                    <a:solidFill>
                      <a:srgbClr val="F8FAFC"/>
                    </a:solidFill>
                  </a:tcPr>
                </a:tc>
                <a:tc>
                  <a:txBody>
                    <a:bodyPr/>
                    <a:lstStyle/>
                    <a:p>
                      <a:pPr algn="l">
                        <a:defRPr sz="950" b="0">
                          <a:solidFill>
                            <a:srgbClr val="1E293B"/>
                          </a:solidFill>
                          <a:latin typeface="Calibri"/>
                        </a:defRPr>
                      </a:pPr>
                      <a:r>
                        <a:t>Massive CPU/GPU strain; generated hundreds of gigabytes per week.</a:t>
                      </a:r>
                    </a:p>
                  </a:txBody>
                  <a:tcPr anchor="ctr">
                    <a:solidFill>
                      <a:srgbClr val="F8FAFC"/>
                    </a:solidFill>
                  </a:tcPr>
                </a:tc>
              </a:tr>
              <a:tr h="627017">
                <a:tc>
                  <a:txBody>
                    <a:bodyPr/>
                    <a:lstStyle/>
                    <a:p>
                      <a:pPr algn="l">
                        <a:defRPr sz="950" b="1">
                          <a:solidFill>
                            <a:srgbClr val="1E293B"/>
                          </a:solidFill>
                          <a:latin typeface="Calibri"/>
                        </a:defRPr>
                      </a:pPr>
                      <a:r>
                        <a:t>Cloud Meeting SaaS</a:t>
                      </a:r>
                    </a:p>
                  </a:txBody>
                  <a:tcPr anchor="ctr">
                    <a:solidFill>
                      <a:srgbClr val="FFFFFF"/>
                    </a:solidFill>
                  </a:tcPr>
                </a:tc>
                <a:tc>
                  <a:txBody>
                    <a:bodyPr/>
                    <a:lstStyle/>
                    <a:p>
                      <a:pPr algn="l">
                        <a:defRPr sz="950" b="0">
                          <a:solidFill>
                            <a:srgbClr val="1E293B"/>
                          </a:solidFill>
                          <a:latin typeface="Calibri"/>
                        </a:defRPr>
                      </a:pPr>
                      <a:r>
                        <a:t>Otter.ai / Granola</a:t>
                      </a:r>
                    </a:p>
                    <a:p>
                      <a:pPr algn="l">
                        <a:defRPr sz="950" b="0">
                          <a:solidFill>
                            <a:srgbClr val="1E293B"/>
                          </a:solidFill>
                          <a:latin typeface="Calibri"/>
                        </a:defRPr>
                      </a:pPr>
                      <a:r>
                        <a:t>(2020–2023)</a:t>
                      </a:r>
                    </a:p>
                  </a:txBody>
                  <a:tcPr anchor="ctr">
                    <a:solidFill>
                      <a:srgbClr val="FFFFFF"/>
                    </a:solidFill>
                  </a:tcPr>
                </a:tc>
                <a:tc>
                  <a:txBody>
                    <a:bodyPr/>
                    <a:lstStyle/>
                    <a:p>
                      <a:pPr algn="l">
                        <a:defRPr sz="950" b="0">
                          <a:solidFill>
                            <a:srgbClr val="1E293B"/>
                          </a:solidFill>
                          <a:latin typeface="Calibri"/>
                        </a:defRPr>
                      </a:pPr>
                      <a:r>
                        <a:t>Cloud-based speech-to-text and automated LLM meeting summaries.</a:t>
                      </a:r>
                    </a:p>
                  </a:txBody>
                  <a:tcPr anchor="ctr">
                    <a:solidFill>
                      <a:srgbClr val="FFFFFF"/>
                    </a:solidFill>
                  </a:tcPr>
                </a:tc>
                <a:tc>
                  <a:txBody>
                    <a:bodyPr/>
                    <a:lstStyle/>
                    <a:p>
                      <a:pPr algn="l">
                        <a:defRPr sz="950" b="0">
                          <a:solidFill>
                            <a:srgbClr val="1E293B"/>
                          </a:solidFill>
                          <a:latin typeface="Calibri"/>
                        </a:defRPr>
                      </a:pPr>
                      <a:r>
                        <a:t>100% cloud telemetry; severe privacy/regulatory liabilities; no screen context.</a:t>
                      </a:r>
                    </a:p>
                  </a:txBody>
                  <a:tcPr anchor="ctr">
                    <a:solidFill>
                      <a:srgbClr val="FFFFFF"/>
                    </a:solidFill>
                  </a:tcPr>
                </a:tc>
              </a:tr>
              <a:tr h="627017">
                <a:tc>
                  <a:txBody>
                    <a:bodyPr/>
                    <a:lstStyle/>
                    <a:p>
                      <a:pPr algn="l">
                        <a:defRPr sz="950" b="1">
                          <a:solidFill>
                            <a:srgbClr val="1E293B"/>
                          </a:solidFill>
                          <a:latin typeface="Calibri"/>
                        </a:defRPr>
                      </a:pPr>
                      <a:r>
                        <a:t>Proprietary NPU Recorders</a:t>
                      </a:r>
                    </a:p>
                  </a:txBody>
                  <a:tcPr anchor="ctr">
                    <a:solidFill>
                      <a:srgbClr val="F8FAFC"/>
                    </a:solidFill>
                  </a:tcPr>
                </a:tc>
                <a:tc>
                  <a:txBody>
                    <a:bodyPr/>
                    <a:lstStyle/>
                    <a:p>
                      <a:pPr algn="l">
                        <a:defRPr sz="950" b="0">
                          <a:solidFill>
                            <a:srgbClr val="1E293B"/>
                          </a:solidFill>
                          <a:latin typeface="Calibri"/>
                        </a:defRPr>
                      </a:pPr>
                      <a:r>
                        <a:t>Microsoft Recall /</a:t>
                      </a:r>
                    </a:p>
                    <a:p>
                      <a:pPr algn="l">
                        <a:defRPr sz="950" b="0">
                          <a:solidFill>
                            <a:srgbClr val="1E293B"/>
                          </a:solidFill>
                          <a:latin typeface="Calibri"/>
                        </a:defRPr>
                      </a:pPr>
                      <a:r>
                        <a:t>Rewind (2024)</a:t>
                      </a:r>
                    </a:p>
                  </a:txBody>
                  <a:tcPr anchor="ctr">
                    <a:solidFill>
                      <a:srgbClr val="F8FAFC"/>
                    </a:solidFill>
                  </a:tcPr>
                </a:tc>
                <a:tc>
                  <a:txBody>
                    <a:bodyPr/>
                    <a:lstStyle/>
                    <a:p>
                      <a:pPr algn="l">
                        <a:defRPr sz="950" b="0">
                          <a:solidFill>
                            <a:srgbClr val="1E293B"/>
                          </a:solidFill>
                          <a:latin typeface="Calibri"/>
                        </a:defRPr>
                      </a:pPr>
                      <a:r>
                        <a:t>Periodic timer snapshots and local neural processing on NPUs.</a:t>
                      </a:r>
                    </a:p>
                  </a:txBody>
                  <a:tcPr anchor="ctr">
                    <a:solidFill>
                      <a:srgbClr val="F8FAFC"/>
                    </a:solidFill>
                  </a:tcPr>
                </a:tc>
                <a:tc>
                  <a:txBody>
                    <a:bodyPr/>
                    <a:lstStyle/>
                    <a:p>
                      <a:pPr algn="l">
                        <a:defRPr sz="950" b="0">
                          <a:solidFill>
                            <a:srgbClr val="1E293B"/>
                          </a:solidFill>
                          <a:latin typeface="Calibri"/>
                        </a:defRPr>
                      </a:pPr>
                      <a:r>
                        <a:t>Closed-source binaries; vendor lock-in; lack of open agent protocols (MCP).</a:t>
                      </a:r>
                    </a:p>
                  </a:txBody>
                  <a:tcPr anchor="ctr">
                    <a:solidFill>
                      <a:srgbClr val="F8FAFC"/>
                    </a:solidFill>
                  </a:tcPr>
                </a:tc>
              </a:tr>
              <a:tr h="627018">
                <a:tc>
                  <a:txBody>
                    <a:bodyPr/>
                    <a:lstStyle/>
                    <a:p>
                      <a:pPr algn="l">
                        <a:defRPr sz="950" b="1">
                          <a:solidFill>
                            <a:srgbClr val="0F172A"/>
                          </a:solidFill>
                          <a:latin typeface="Calibri"/>
                        </a:defRPr>
                      </a:pPr>
                      <a:r>
                        <a:t>Ambient Event-Driven Engine</a:t>
                      </a:r>
                    </a:p>
                  </a:txBody>
                  <a:tcPr anchor="ctr">
                    <a:solidFill>
                      <a:srgbClr val="EEF2FF"/>
                    </a:solidFill>
                  </a:tcPr>
                </a:tc>
                <a:tc>
                  <a:txBody>
                    <a:bodyPr/>
                    <a:lstStyle/>
                    <a:p>
                      <a:pPr algn="l">
                        <a:defRPr sz="950" b="0">
                          <a:solidFill>
                            <a:srgbClr val="0F172A"/>
                          </a:solidFill>
                          <a:latin typeface="Calibri"/>
                        </a:defRPr>
                      </a:pPr>
                      <a:r>
                        <a:t>Desk-AI</a:t>
                      </a:r>
                    </a:p>
                    <a:p>
                      <a:pPr algn="l">
                        <a:defRPr sz="950" b="0">
                          <a:solidFill>
                            <a:srgbClr val="0F172A"/>
                          </a:solidFill>
                          <a:latin typeface="Calibri"/>
                        </a:defRPr>
                      </a:pPr>
                      <a:r>
                        <a:t>(Present Work)</a:t>
                      </a:r>
                    </a:p>
                  </a:txBody>
                  <a:tcPr anchor="ctr">
                    <a:solidFill>
                      <a:srgbClr val="EEF2FF"/>
                    </a:solidFill>
                  </a:tcPr>
                </a:tc>
                <a:tc>
                  <a:txBody>
                    <a:bodyPr/>
                    <a:lstStyle/>
                    <a:p>
                      <a:pPr algn="l">
                        <a:defRPr sz="950" b="0">
                          <a:solidFill>
                            <a:srgbClr val="0F172A"/>
                          </a:solidFill>
                          <a:latin typeface="Calibri"/>
                        </a:defRPr>
                      </a:pPr>
                      <a:r>
                        <a:t>Event-driven dHash, UIA accessibility-first, local Whisper, MCP.</a:t>
                      </a:r>
                    </a:p>
                  </a:txBody>
                  <a:tcPr anchor="ctr">
                    <a:solidFill>
                      <a:srgbClr val="EEF2FF"/>
                    </a:solidFill>
                  </a:tcPr>
                </a:tc>
                <a:tc>
                  <a:txBody>
                    <a:bodyPr/>
                    <a:lstStyle/>
                    <a:p>
                      <a:pPr algn="l">
                        <a:defRPr sz="950" b="0">
                          <a:solidFill>
                            <a:srgbClr val="0F172A"/>
                          </a:solidFill>
                          <a:latin typeface="Calibri"/>
                        </a:defRPr>
                      </a:pPr>
                      <a:r>
                        <a:t>Requires local compute resources; platform-specific OS accessibility quirks.</a:t>
                      </a:r>
                    </a:p>
                  </a:txBody>
                  <a:tcPr anchor="ctr">
                    <a:solidFill>
                      <a:srgbClr val="EEF2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Problem Statement: The Digital Context Bottleneck</a:t>
            </a:r>
          </a:p>
          <a:p>
            <a:pPr>
              <a:spcBef>
                <a:spcPts val="300"/>
              </a:spcBef>
              <a:defRPr sz="1200" i="1">
                <a:solidFill>
                  <a:srgbClr val="64748B"/>
                </a:solidFill>
                <a:latin typeface="Calibri"/>
              </a:defRPr>
            </a:pPr>
            <a:r>
              <a:t>Context Severance, Prompt Fatigue, and Cloud Privacy Vulnerabilities</a:t>
            </a:r>
          </a:p>
        </p:txBody>
      </p:sp>
      <p:sp>
        <p:nvSpPr>
          <p:cNvPr id="3" name="TextBox 2"/>
          <p:cNvSpPr txBox="1"/>
          <p:nvPr/>
        </p:nvSpPr>
        <p:spPr>
          <a:xfrm>
            <a:off x="731520" y="1645920"/>
            <a:ext cx="7132320" cy="4572000"/>
          </a:xfrm>
          <a:prstGeom prst="rect">
            <a:avLst/>
          </a:prstGeom>
          <a:noFill/>
        </p:spPr>
        <p:txBody>
          <a:bodyPr wrap="square" lIns="0" tIns="0" rIns="0" bIns="0">
            <a:spAutoFit/>
          </a:bodyPr>
          <a:lstStyle/>
          <a:p>
            <a:pPr>
              <a:spcAft>
                <a:spcPts val="1200"/>
              </a:spcAft>
              <a:defRPr sz="1200">
                <a:latin typeface="Calibri"/>
              </a:defRPr>
            </a:pPr>
            <a:r>
              <a:rPr b="1">
                <a:solidFill>
                  <a:srgbClr val="0F172A"/>
                </a:solidFill>
              </a:rPr>
              <a:t>• The Context Severance Barrier: </a:t>
            </a:r>
            <a:r>
              <a:rPr>
                <a:solidFill>
                  <a:srgbClr val="1E293B"/>
                </a:solidFill>
              </a:rPr>
              <a:t>Large Language Models operate as isolated, stateless oracles. They possess zero passive visibility into running terminal errors, IDE tabs, documentation windows, or meeting conversations, severing the model from the user's active computational reality.</a:t>
            </a:r>
          </a:p>
          <a:p>
            <a:pPr>
              <a:spcAft>
                <a:spcPts val="1200"/>
              </a:spcAft>
              <a:defRPr sz="1200">
                <a:latin typeface="Calibri"/>
              </a:defRPr>
            </a:pPr>
            <a:r>
              <a:rPr b="1">
                <a:solidFill>
                  <a:srgbClr val="0F172A"/>
                </a:solidFill>
              </a:rPr>
              <a:t>• Prompt Fatigue &amp; Cognitive Friction: </a:t>
            </a:r>
            <a:r>
              <a:rPr>
                <a:solidFill>
                  <a:srgbClr val="1E293B"/>
                </a:solidFill>
              </a:rPr>
              <a:t>Knowledge workers waste 15–20% of their workday taking screenshots, copy-pasting stack traces, and writing elaborate prompts just to give an AI agent necessary context, transforming AI into an ad-hoc chore rather than an ambient co-pilot.</a:t>
            </a:r>
          </a:p>
          <a:p>
            <a:pPr>
              <a:spcAft>
                <a:spcPts val="1200"/>
              </a:spcAft>
              <a:defRPr sz="1200">
                <a:latin typeface="Calibri"/>
              </a:defRPr>
            </a:pPr>
            <a:r>
              <a:rPr b="1">
                <a:solidFill>
                  <a:srgbClr val="0F172A"/>
                </a:solidFill>
              </a:rPr>
              <a:t>• The 'Continuous Video' Hardware Tax: </a:t>
            </a:r>
            <a:r>
              <a:rPr>
                <a:solidFill>
                  <a:srgbClr val="1E293B"/>
                </a:solidFill>
              </a:rPr>
              <a:t>Brute-force continuous screen recording drains battery within hours, triggers thermal throttling, and fills hard drives at ~100 GB/month, rendering conventional approaches impractical on laptops.</a:t>
            </a:r>
          </a:p>
          <a:p>
            <a:pPr>
              <a:spcAft>
                <a:spcPts val="1200"/>
              </a:spcAft>
              <a:defRPr sz="1200">
                <a:latin typeface="Calibri"/>
              </a:defRPr>
            </a:pPr>
            <a:r>
              <a:rPr b="1">
                <a:solidFill>
                  <a:srgbClr val="0F172A"/>
                </a:solidFill>
              </a:rPr>
              <a:t>• The Cloud Privacy &amp; Surveillance Chasm: </a:t>
            </a:r>
            <a:r>
              <a:rPr>
                <a:solidFill>
                  <a:srgbClr val="1E293B"/>
                </a:solidFill>
              </a:rPr>
              <a:t>Commercial lifeloggers routinely stream unredacted screen frames and audio to remote SaaS servers, exposing enterprise trade secrets, passwords, customer data, and personal privacy to external data leaks.</a:t>
            </a:r>
          </a:p>
        </p:txBody>
      </p:sp>
      <p:sp>
        <p:nvSpPr>
          <p:cNvPr id="4" name="Rounded Rectangle 3"/>
          <p:cNvSpPr/>
          <p:nvPr/>
        </p:nvSpPr>
        <p:spPr>
          <a:xfrm>
            <a:off x="8229600" y="1645920"/>
            <a:ext cx="3200400" cy="4572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b="1" sz="1200">
                <a:solidFill>
                  <a:srgbClr val="DC2626"/>
                </a:solidFill>
              </a:defRPr>
            </a:pPr>
            <a:r>
              <a:t>THE PROMPT FATIGUE TAX</a:t>
            </a:r>
          </a:p>
          <a:p>
            <a:pPr algn="ctr">
              <a:spcAft>
                <a:spcPts val="200"/>
              </a:spcAft>
              <a:defRPr sz="1050" b="1">
                <a:solidFill>
                  <a:srgbClr val="0F172A"/>
                </a:solidFill>
              </a:defRPr>
            </a:pPr>
            <a:r>
              <a:t>1. Active Developer Work</a:t>
            </a:r>
            <a:br/>
            <a:r>
              <a:t>(IDE, Terminal, Browser)</a:t>
            </a:r>
          </a:p>
          <a:p>
            <a:pPr algn="ctr">
              <a:spcBef>
                <a:spcPts val="200"/>
              </a:spcBef>
              <a:spcAft>
                <a:spcPts val="200"/>
              </a:spcAft>
              <a:defRPr sz="1100" b="1">
                <a:solidFill>
                  <a:srgbClr val="2563EB"/>
                </a:solidFill>
              </a:defRPr>
            </a:pPr>
            <a:r>
              <a:t>▼</a:t>
            </a:r>
          </a:p>
          <a:p>
            <a:pPr algn="ctr">
              <a:spcAft>
                <a:spcPts val="200"/>
              </a:spcAft>
              <a:defRPr sz="1050" b="1">
                <a:solidFill>
                  <a:srgbClr val="0F172A"/>
                </a:solidFill>
              </a:defRPr>
            </a:pPr>
            <a:r>
              <a:t>2. Breakpoint / Meeting</a:t>
            </a:r>
            <a:br/>
            <a:r>
              <a:t>(Transient error or decision)</a:t>
            </a:r>
          </a:p>
          <a:p>
            <a:pPr algn="ctr">
              <a:spcBef>
                <a:spcPts val="200"/>
              </a:spcBef>
              <a:spcAft>
                <a:spcPts val="200"/>
              </a:spcAft>
              <a:defRPr sz="1100" b="1">
                <a:solidFill>
                  <a:srgbClr val="2563EB"/>
                </a:solidFill>
              </a:defRPr>
            </a:pPr>
            <a:r>
              <a:t>▼</a:t>
            </a:r>
          </a:p>
          <a:p>
            <a:pPr algn="ctr">
              <a:spcAft>
                <a:spcPts val="200"/>
              </a:spcAft>
              <a:defRPr sz="1050" b="1">
                <a:solidFill>
                  <a:srgbClr val="0F172A"/>
                </a:solidFill>
              </a:defRPr>
            </a:pPr>
            <a:r>
              <a:t>3. Cognitive Friction</a:t>
            </a:r>
            <a:br/>
            <a:r>
              <a:t>(Manual screenshot &amp; formatting)</a:t>
            </a:r>
          </a:p>
          <a:p>
            <a:pPr algn="ctr">
              <a:spcBef>
                <a:spcPts val="200"/>
              </a:spcBef>
              <a:spcAft>
                <a:spcPts val="200"/>
              </a:spcAft>
              <a:defRPr sz="1100" b="1">
                <a:solidFill>
                  <a:srgbClr val="2563EB"/>
                </a:solidFill>
              </a:defRPr>
            </a:pPr>
            <a:r>
              <a:t>▼</a:t>
            </a:r>
          </a:p>
          <a:p>
            <a:pPr algn="ctr">
              <a:spcAft>
                <a:spcPts val="200"/>
              </a:spcAft>
              <a:defRPr sz="1050" b="1">
                <a:solidFill>
                  <a:srgbClr val="0F172A"/>
                </a:solidFill>
              </a:defRPr>
            </a:pPr>
            <a:r>
              <a:t>4. Isolated LLM Prompt</a:t>
            </a:r>
            <a:br/>
            <a:r>
              <a:t>(Chat box query without context)</a:t>
            </a:r>
          </a:p>
          <a:p>
            <a:pPr algn="ctr">
              <a:spcBef>
                <a:spcPts val="200"/>
              </a:spcBef>
              <a:spcAft>
                <a:spcPts val="200"/>
              </a:spcAft>
              <a:defRPr sz="1100" b="1">
                <a:solidFill>
                  <a:srgbClr val="2563EB"/>
                </a:solidFill>
              </a:defRPr>
            </a:pPr>
            <a:r>
              <a:t>▼</a:t>
            </a:r>
          </a:p>
          <a:p>
            <a:pPr algn="ctr">
              <a:spcAft>
                <a:spcPts val="200"/>
              </a:spcAft>
              <a:defRPr sz="1050" b="1">
                <a:solidFill>
                  <a:srgbClr val="0F172A"/>
                </a:solidFill>
              </a:defRPr>
            </a:pPr>
            <a:r>
              <a:t>5. Result: Disjointed Context</a:t>
            </a:r>
            <a:br/>
            <a:r>
              <a:t>(~20% Workday Wasted)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Introducing Desk-AI: The Local-First Ambient Memory Engine</a:t>
            </a:r>
          </a:p>
          <a:p>
            <a:pPr>
              <a:spcBef>
                <a:spcPts val="300"/>
              </a:spcBef>
              <a:defRPr sz="1200" i="1">
                <a:solidFill>
                  <a:srgbClr val="64748B"/>
                </a:solidFill>
                <a:latin typeface="Calibri"/>
              </a:defRPr>
            </a:pPr>
            <a:r>
              <a:t>Continuous, Zero-Knowledge Multimodal Context Capture for Agentic Computing</a:t>
            </a:r>
          </a:p>
        </p:txBody>
      </p:sp>
      <p:sp>
        <p:nvSpPr>
          <p:cNvPr id="3" name="Rounded Rectangle 2"/>
          <p:cNvSpPr/>
          <p:nvPr/>
        </p:nvSpPr>
        <p:spPr>
          <a:xfrm>
            <a:off x="731520" y="1645920"/>
            <a:ext cx="329184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b="1" sz="1150">
                <a:solidFill>
                  <a:srgbClr val="2563EB"/>
                </a:solidFill>
              </a:defRPr>
            </a:pPr>
            <a:r>
              <a:t>1. MULTIMODAL INGESTION</a:t>
            </a:r>
          </a:p>
          <a:p>
            <a:pPr>
              <a:defRPr sz="1000">
                <a:solidFill>
                  <a:srgbClr val="1E293B"/>
                </a:solidFill>
              </a:defRPr>
            </a:pPr>
            <a:r>
              <a:t>• Event-driven screen capture (WGC / ScreenCaptureKit)</a:t>
            </a:r>
            <a:br/>
            <a:r>
              <a:t>• Dual-channel audio loopback (WASAPI / CoreAudio)</a:t>
            </a:r>
            <a:br/>
            <a:r>
              <a:t>• Native OS accessibility trees (Windows UIA / AXUIElement)</a:t>
            </a:r>
            <a:br/>
            <a:r>
              <a:t>• Silero Voice Activity Detection (VAD)</a:t>
            </a:r>
          </a:p>
        </p:txBody>
      </p:sp>
      <p:sp>
        <p:nvSpPr>
          <p:cNvPr id="4" name="Rounded Rectangle 3"/>
          <p:cNvSpPr/>
          <p:nvPr/>
        </p:nvSpPr>
        <p:spPr>
          <a:xfrm>
            <a:off x="4434840" y="1645920"/>
            <a:ext cx="329184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b="1" sz="1150">
                <a:solidFill>
                  <a:srgbClr val="2563EB"/>
                </a:solidFill>
              </a:defRPr>
            </a:pPr>
            <a:r>
              <a:t>2. LOCAL ZERO-KNOWLEDGE STORE</a:t>
            </a:r>
          </a:p>
          <a:p>
            <a:pPr>
              <a:defRPr sz="1000">
                <a:solidFill>
                  <a:srgbClr val="1E293B"/>
                </a:solidFill>
              </a:defRPr>
            </a:pPr>
            <a:r>
              <a:t>• Single-writer SQLite Actor queue (WAL mode)</a:t>
            </a:r>
            <a:br/>
            <a:r>
              <a:t>• Full-text search with BM25 ranking (FTS5)</a:t>
            </a:r>
            <a:br/>
            <a:r>
              <a:t>• Automated local PII redaction &amp; pixel blackout</a:t>
            </a:r>
            <a:br/>
            <a:r>
              <a:t>• DESKVAULT1 ChaCha20-Poly1305 AEAD container</a:t>
            </a:r>
          </a:p>
        </p:txBody>
      </p:sp>
      <p:sp>
        <p:nvSpPr>
          <p:cNvPr id="5" name="Rounded Rectangle 4"/>
          <p:cNvSpPr/>
          <p:nvPr/>
        </p:nvSpPr>
        <p:spPr>
          <a:xfrm>
            <a:off x="8138160" y="1645920"/>
            <a:ext cx="329184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b="1" sz="1150">
                <a:solidFill>
                  <a:srgbClr val="2563EB"/>
                </a:solidFill>
              </a:defRPr>
            </a:pPr>
            <a:r>
              <a:t>3. AGENTIC INTEROPERABILITY</a:t>
            </a:r>
          </a:p>
          <a:p>
            <a:pPr>
              <a:defRPr sz="1000">
                <a:solidFill>
                  <a:srgbClr val="1E293B"/>
                </a:solidFill>
              </a:defRPr>
            </a:pPr>
            <a:r>
              <a:t>• Standard Model Context Protocol (MCP) server</a:t>
            </a:r>
            <a:br/>
            <a:r>
              <a:t>• Native integration with Claude, Cursor, and Codex</a:t>
            </a:r>
            <a:br/>
            <a:r>
              <a:t>• Autonomous cron-scheduled agent Pipes (`pipe.md`)</a:t>
            </a:r>
            <a:br/>
            <a:r>
              <a:t>• Sub-40ms semantic search via ONNX embeddings</a:t>
            </a:r>
          </a:p>
        </p:txBody>
      </p:sp>
      <p:sp>
        <p:nvSpPr>
          <p:cNvPr id="6" name="TextBox 5"/>
          <p:cNvSpPr txBox="1"/>
          <p:nvPr/>
        </p:nvSpPr>
        <p:spPr>
          <a:xfrm>
            <a:off x="731520" y="3931920"/>
            <a:ext cx="10728655" cy="2377440"/>
          </a:xfrm>
          <a:prstGeom prst="rect">
            <a:avLst/>
          </a:prstGeom>
          <a:noFill/>
        </p:spPr>
        <p:txBody>
          <a:bodyPr wrap="square">
            <a:spAutoFit/>
          </a:bodyPr>
          <a:lstStyle/>
          <a:p>
            <a:pPr>
              <a:spcAft>
                <a:spcPts val="600"/>
              </a:spcAft>
              <a:defRPr b="1" sz="1300">
                <a:solidFill>
                  <a:srgbClr val="0F172A"/>
                </a:solidFill>
              </a:defRPr>
            </a:pPr>
            <a:r>
              <a:t>Core Architectural Paradigm Shift:</a:t>
            </a:r>
          </a:p>
          <a:p>
            <a:pPr>
              <a:defRPr sz="1150">
                <a:solidFill>
                  <a:srgbClr val="1E293B"/>
                </a:solidFill>
              </a:defRPr>
            </a:pPr>
            <a:r>
              <a:t>Desk-AI fundamentally replaces the reactive 'ask and prompt' model with proactive ambient computing. Built entirely in systems-level Rust, the daemon runs silently as an unprivileged background process, recording and indexing 100% of the user's computing lifecycle without allowing a single byte of private data to leave the local machine.</a:t>
            </a:r>
            <a:br/>
            <a:br/>
            <a:r>
              <a:t>By uniting high-speed accessibility extraction with local neural speech models and zero-knowledge encryption, Desk-AI transforms an ephemeral desktop into an auditable, high-dimensional memory substrate accessible to autonomous coding agents.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System Architecture: Multi-Tier Modular Topology</a:t>
            </a:r>
          </a:p>
          <a:p>
            <a:pPr>
              <a:spcBef>
                <a:spcPts val="300"/>
              </a:spcBef>
              <a:defRPr sz="1200" i="1">
                <a:solidFill>
                  <a:srgbClr val="64748B"/>
                </a:solidFill>
                <a:latin typeface="Calibri"/>
              </a:defRPr>
            </a:pPr>
            <a:r>
              <a:t>A Coordinated Ecosystem of Specialized Systems Intelligence in Rust</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Pr>
              <a:spcAft>
                <a:spcPts val="900"/>
              </a:spcAft>
              <a:defRPr sz="1150">
                <a:latin typeface="Calibri"/>
              </a:defRPr>
            </a:pPr>
            <a:r>
              <a:rPr b="1">
                <a:solidFill>
                  <a:srgbClr val="0F172A"/>
                </a:solidFill>
              </a:rPr>
              <a:t>• Multimodal Ingestion Tier: </a:t>
            </a:r>
            <a:r>
              <a:rPr>
                <a:solidFill>
                  <a:srgbClr val="1E293B"/>
                </a:solidFill>
              </a:rPr>
              <a:t>Contains platform-specific capture drivers: Windows Graphics Capture (WGC), ScreenCaptureKit (macOS), WASAPI loopback audio, and global OS input event hooks for mouse and keyboard monitoring.</a:t>
            </a:r>
          </a:p>
          <a:p>
            <a:pPr>
              <a:spcAft>
                <a:spcPts val="900"/>
              </a:spcAft>
              <a:defRPr sz="1150">
                <a:latin typeface="Calibri"/>
              </a:defRPr>
            </a:pPr>
            <a:r>
              <a:rPr b="1">
                <a:solidFill>
                  <a:srgbClr val="0F172A"/>
                </a:solidFill>
              </a:rPr>
              <a:t>• Processing &amp; Neural Tier: </a:t>
            </a:r>
            <a:r>
              <a:rPr>
                <a:solidFill>
                  <a:srgbClr val="1E293B"/>
                </a:solidFill>
              </a:rPr>
              <a:t>Executes 64-bit dHash perceptual filtering, Silero VAD voice activity segmentation, on-device Whisper Large-v3-Turbo speech transcription, speaker voiceprint clustering, and automated PII redaction.</a:t>
            </a:r>
          </a:p>
          <a:p>
            <a:pPr>
              <a:spcAft>
                <a:spcPts val="900"/>
              </a:spcAft>
              <a:defRPr sz="1150">
                <a:latin typeface="Calibri"/>
              </a:defRPr>
            </a:pPr>
            <a:r>
              <a:rPr b="1">
                <a:solidFill>
                  <a:srgbClr val="0F172A"/>
                </a:solidFill>
              </a:rPr>
              <a:t>• Storage &amp; Persistence Tier: </a:t>
            </a:r>
            <a:r>
              <a:rPr>
                <a:solidFill>
                  <a:srgbClr val="1E293B"/>
                </a:solidFill>
              </a:rPr>
              <a:t>Routes all database mutations across an MPSC channel to a dedicated Single-Writer SQLite Actor operating in WAL mode, driving FTS5 BM25 ranked inverted indices with sub-15ms keyword query latencies.</a:t>
            </a:r>
          </a:p>
          <a:p>
            <a:pPr>
              <a:spcAft>
                <a:spcPts val="900"/>
              </a:spcAft>
              <a:defRPr sz="1150">
                <a:latin typeface="Calibri"/>
              </a:defRPr>
            </a:pPr>
            <a:r>
              <a:rPr b="1">
                <a:solidFill>
                  <a:srgbClr val="0F172A"/>
                </a:solidFill>
              </a:rPr>
              <a:t>• Cryptographic Vault Tier: </a:t>
            </a:r>
            <a:r>
              <a:rPr>
                <a:solidFill>
                  <a:srgbClr val="1E293B"/>
                </a:solidFill>
              </a:rPr>
              <a:t>DESKVAULT1 streaming encryption engine utilizing ChaCha20-Poly1305 AEAD with memory-hard Argon2id key derivation, sealing master keys directly inside OS hardware enclaves (Credential Guard / Keychain).</a:t>
            </a:r>
          </a:p>
          <a:p>
            <a:pPr>
              <a:spcAft>
                <a:spcPts val="900"/>
              </a:spcAft>
              <a:defRPr sz="1150">
                <a:latin typeface="Calibri"/>
              </a:defRPr>
            </a:pPr>
            <a:r>
              <a:rPr b="1">
                <a:solidFill>
                  <a:srgbClr val="0F172A"/>
                </a:solidFill>
              </a:rPr>
              <a:t>• Extensibility &amp; Agent Gateway: </a:t>
            </a:r>
            <a:r>
              <a:rPr>
                <a:solidFill>
                  <a:srgbClr val="1E293B"/>
                </a:solidFill>
              </a:rPr>
              <a:t>High-throughput Axum REST/WebSocket server, official Model Context Protocol (MCP) server, and autonomous scheduled Markdown Pipes with deterministic token-gated OS sandboxing.</a:t>
            </a:r>
          </a:p>
          <a:p>
            <a:pPr>
              <a:spcAft>
                <a:spcPts val="900"/>
              </a:spcAft>
              <a:defRPr sz="1150">
                <a:latin typeface="Calibri"/>
              </a:defRPr>
            </a:pPr>
            <a:r>
              <a:rPr b="1">
                <a:solidFill>
                  <a:srgbClr val="0F172A"/>
                </a:solidFill>
              </a:rPr>
              <a:t>• Dynamic Concurrency &amp; Safety: </a:t>
            </a:r>
            <a:r>
              <a:rPr>
                <a:solidFill>
                  <a:srgbClr val="1E293B"/>
                </a:solidFill>
              </a:rPr>
              <a:t>Orchestrated via Tokio asynchronous runtime, ensuring complete memory safety without garbage collection, zero runtime telemetry, and zero SQLITE_BUSY lock contention.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Desk-AI End-to-End Processing Pipeline</a:t>
            </a:r>
          </a:p>
          <a:p>
            <a:pPr>
              <a:spcBef>
                <a:spcPts val="300"/>
              </a:spcBef>
              <a:defRPr sz="1200" i="1">
                <a:solidFill>
                  <a:srgbClr val="64748B"/>
                </a:solidFill>
                <a:latin typeface="Calibri"/>
              </a:defRPr>
            </a:pPr>
            <a:r>
              <a:t>Sequential Signal Conditioning, Filtering, Local Inference, and Agent Querying</a:t>
            </a:r>
          </a:p>
        </p:txBody>
      </p:sp>
      <p:sp>
        <p:nvSpPr>
          <p:cNvPr id="3" name="Rounded Rectangle 2"/>
          <p:cNvSpPr/>
          <p:nvPr/>
        </p:nvSpPr>
        <p:spPr>
          <a:xfrm>
            <a:off x="731520" y="2377440"/>
            <a:ext cx="1371600" cy="2011680"/>
          </a:xfrm>
          <a:prstGeom prst="roundRect">
            <a:avLst/>
          </a:prstGeom>
          <a:solidFill>
            <a:srgbClr val="F8FAFC"/>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0F172A"/>
                </a:solidFill>
              </a:defRPr>
            </a:pPr>
            <a:r>
              <a:t>1. User Activity</a:t>
            </a:r>
          </a:p>
          <a:p>
            <a:pPr algn="ctr">
              <a:defRPr sz="850">
                <a:solidFill>
                  <a:srgbClr val="1E293B"/>
                </a:solidFill>
              </a:defRPr>
            </a:pPr>
            <a:r>
              <a:t>Desktop interaction &amp;</a:t>
            </a:r>
            <a:br/>
            <a:r>
              <a:t>WASAPI Loopback audio</a:t>
            </a:r>
          </a:p>
        </p:txBody>
      </p:sp>
      <p:sp>
        <p:nvSpPr>
          <p:cNvPr id="4" name="TextBox 3"/>
          <p:cNvSpPr txBox="1"/>
          <p:nvPr/>
        </p:nvSpPr>
        <p:spPr>
          <a:xfrm>
            <a:off x="2103120"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5" name="Rounded Rectangle 4"/>
          <p:cNvSpPr/>
          <p:nvPr/>
        </p:nvSpPr>
        <p:spPr>
          <a:xfrm>
            <a:off x="2286000" y="2377440"/>
            <a:ext cx="1371600" cy="2011680"/>
          </a:xfrm>
          <a:prstGeom prst="roundRect">
            <a:avLst/>
          </a:prstGeom>
          <a:solidFill>
            <a:srgbClr val="F8FAFC"/>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0F172A"/>
                </a:solidFill>
              </a:defRPr>
            </a:pPr>
            <a:r>
              <a:t>2. Event Detection</a:t>
            </a:r>
          </a:p>
          <a:p>
            <a:pPr algn="ctr">
              <a:defRPr sz="850">
                <a:solidFill>
                  <a:srgbClr val="1E293B"/>
                </a:solidFill>
              </a:defRPr>
            </a:pPr>
            <a:r>
              <a:t>OS Event Hooks (Clicks/Keys)</a:t>
            </a:r>
            <a:br/>
            <a:r>
              <a:t>+ Audio Ring Buffer</a:t>
            </a:r>
          </a:p>
        </p:txBody>
      </p:sp>
      <p:sp>
        <p:nvSpPr>
          <p:cNvPr id="6" name="TextBox 5"/>
          <p:cNvSpPr txBox="1"/>
          <p:nvPr/>
        </p:nvSpPr>
        <p:spPr>
          <a:xfrm>
            <a:off x="3657600"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7" name="Rounded Rectangle 6"/>
          <p:cNvSpPr/>
          <p:nvPr/>
        </p:nvSpPr>
        <p:spPr>
          <a:xfrm>
            <a:off x="3840480" y="2377440"/>
            <a:ext cx="1371600" cy="2011680"/>
          </a:xfrm>
          <a:prstGeom prst="roundRect">
            <a:avLst/>
          </a:prstGeom>
          <a:solidFill>
            <a:srgbClr val="F8FAFC"/>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0F172A"/>
                </a:solidFill>
              </a:defRPr>
            </a:pPr>
            <a:r>
              <a:t>3. Signal Filtering</a:t>
            </a:r>
          </a:p>
          <a:p>
            <a:pPr algn="ctr">
              <a:defRPr sz="850">
                <a:solidFill>
                  <a:srgbClr val="1E293B"/>
                </a:solidFill>
              </a:defRPr>
            </a:pPr>
            <a:r>
              <a:t>dHash Hamming Diff (&lt;3 Discard)</a:t>
            </a:r>
            <a:br/>
            <a:r>
              <a:t>+ Silero VAD Voice Filter</a:t>
            </a:r>
          </a:p>
        </p:txBody>
      </p:sp>
      <p:sp>
        <p:nvSpPr>
          <p:cNvPr id="8" name="TextBox 7"/>
          <p:cNvSpPr txBox="1"/>
          <p:nvPr/>
        </p:nvSpPr>
        <p:spPr>
          <a:xfrm>
            <a:off x="5212080"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9" name="Rounded Rectangle 8"/>
          <p:cNvSpPr/>
          <p:nvPr/>
        </p:nvSpPr>
        <p:spPr>
          <a:xfrm>
            <a:off x="5394959" y="2377440"/>
            <a:ext cx="137160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2563EB"/>
                </a:solidFill>
              </a:defRPr>
            </a:pPr>
            <a:r>
              <a:t>4. Text &amp; STT</a:t>
            </a:r>
          </a:p>
          <a:p>
            <a:pPr algn="ctr">
              <a:defRPr sz="850">
                <a:solidFill>
                  <a:srgbClr val="1E293B"/>
                </a:solidFill>
              </a:defRPr>
            </a:pPr>
            <a:r>
              <a:t>Accessibility Tree (UIA/AX)</a:t>
            </a:r>
            <a:br/>
            <a:r>
              <a:t>+ Local Whisper Speech STT</a:t>
            </a:r>
          </a:p>
        </p:txBody>
      </p:sp>
      <p:sp>
        <p:nvSpPr>
          <p:cNvPr id="10" name="TextBox 9"/>
          <p:cNvSpPr txBox="1"/>
          <p:nvPr/>
        </p:nvSpPr>
        <p:spPr>
          <a:xfrm>
            <a:off x="6766559"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11" name="Rounded Rectangle 10"/>
          <p:cNvSpPr/>
          <p:nvPr/>
        </p:nvSpPr>
        <p:spPr>
          <a:xfrm>
            <a:off x="6949440" y="2377440"/>
            <a:ext cx="1371600" cy="2011680"/>
          </a:xfrm>
          <a:prstGeom prst="roundRect">
            <a:avLst/>
          </a:prstGeom>
          <a:solidFill>
            <a:srgbClr val="F8FAFC"/>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0F172A"/>
                </a:solidFill>
              </a:defRPr>
            </a:pPr>
            <a:r>
              <a:t>5. Security &amp; Vault</a:t>
            </a:r>
          </a:p>
          <a:p>
            <a:pPr algn="ctr">
              <a:defRPr sz="850">
                <a:solidFill>
                  <a:srgbClr val="1E293B"/>
                </a:solidFill>
              </a:defRPr>
            </a:pPr>
            <a:r>
              <a:t>Automated NER PII Redaction</a:t>
            </a:r>
            <a:br/>
            <a:r>
              <a:t>+ ChaCha20-Poly1305 Encrypt</a:t>
            </a:r>
          </a:p>
        </p:txBody>
      </p:sp>
      <p:sp>
        <p:nvSpPr>
          <p:cNvPr id="12" name="TextBox 11"/>
          <p:cNvSpPr txBox="1"/>
          <p:nvPr/>
        </p:nvSpPr>
        <p:spPr>
          <a:xfrm>
            <a:off x="8321040"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13" name="Rounded Rectangle 12"/>
          <p:cNvSpPr/>
          <p:nvPr/>
        </p:nvSpPr>
        <p:spPr>
          <a:xfrm>
            <a:off x="8503920" y="2377440"/>
            <a:ext cx="137160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2563EB"/>
                </a:solidFill>
              </a:defRPr>
            </a:pPr>
            <a:r>
              <a:t>6. Local Storage</a:t>
            </a:r>
          </a:p>
          <a:p>
            <a:pPr algn="ctr">
              <a:defRPr sz="850">
                <a:solidFill>
                  <a:srgbClr val="1E293B"/>
                </a:solidFill>
              </a:defRPr>
            </a:pPr>
            <a:r>
              <a:t>Single-Writer SQLite (WAL)</a:t>
            </a:r>
            <a:br/>
            <a:r>
              <a:t>+ FTS5 BM25 Search Index</a:t>
            </a:r>
          </a:p>
        </p:txBody>
      </p:sp>
      <p:sp>
        <p:nvSpPr>
          <p:cNvPr id="14" name="TextBox 13"/>
          <p:cNvSpPr txBox="1"/>
          <p:nvPr/>
        </p:nvSpPr>
        <p:spPr>
          <a:xfrm>
            <a:off x="9875520" y="3108960"/>
            <a:ext cx="182880" cy="365760"/>
          </a:xfrm>
          <a:prstGeom prst="rect">
            <a:avLst/>
          </a:prstGeom>
          <a:noFill/>
        </p:spPr>
        <p:txBody>
          <a:bodyPr wrap="none" lIns="0" tIns="0">
            <a:spAutoFit/>
          </a:bodyPr>
          <a:lstStyle/>
          <a:p>
            <a:pPr>
              <a:defRPr sz="1400" b="1">
                <a:solidFill>
                  <a:srgbClr val="2563EB"/>
                </a:solidFill>
              </a:defRPr>
            </a:pPr>
            <a:r>
              <a:t>➔</a:t>
            </a:r>
          </a:p>
        </p:txBody>
      </p:sp>
      <p:sp>
        <p:nvSpPr>
          <p:cNvPr id="15" name="Rounded Rectangle 14"/>
          <p:cNvSpPr/>
          <p:nvPr/>
        </p:nvSpPr>
        <p:spPr>
          <a:xfrm>
            <a:off x="10058400" y="2377440"/>
            <a:ext cx="1371600" cy="2011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37160"/>
          <a:lstStyle/>
          <a:p>
            <a:pPr algn="ctr">
              <a:spcAft>
                <a:spcPts val="600"/>
              </a:spcAft>
              <a:defRPr b="1" sz="1000">
                <a:solidFill>
                  <a:srgbClr val="2563EB"/>
                </a:solidFill>
              </a:defRPr>
            </a:pPr>
            <a:r>
              <a:t>7. Agent Access</a:t>
            </a:r>
          </a:p>
          <a:p>
            <a:pPr algn="ctr">
              <a:defRPr sz="850">
                <a:solidFill>
                  <a:srgbClr val="1E293B"/>
                </a:solidFill>
              </a:defRPr>
            </a:pPr>
            <a:r>
              <a:t>MCP Tools (Claude/Cursor)</a:t>
            </a:r>
            <a:br/>
            <a:r>
              <a:t>+ DVR Timeline Scrubber</a:t>
            </a:r>
          </a:p>
        </p:txBody>
      </p:sp>
      <p:sp>
        <p:nvSpPr>
          <p:cNvPr id="16" name="TextBox 15"/>
          <p:cNvSpPr txBox="1"/>
          <p:nvPr/>
        </p:nvSpPr>
        <p:spPr>
          <a:xfrm>
            <a:off x="731520" y="4846320"/>
            <a:ext cx="10728655" cy="1463040"/>
          </a:xfrm>
          <a:prstGeom prst="rect">
            <a:avLst/>
          </a:prstGeom>
          <a:noFill/>
        </p:spPr>
        <p:txBody>
          <a:bodyPr wrap="square">
            <a:spAutoFit/>
          </a:bodyPr>
          <a:lstStyle/>
          <a:p>
            <a:pPr>
              <a:spcAft>
                <a:spcPts val="400"/>
              </a:spcAft>
              <a:defRPr b="1" sz="1200">
                <a:solidFill>
                  <a:srgbClr val="0F172A"/>
                </a:solidFill>
              </a:defRPr>
            </a:pPr>
            <a:r>
              <a:t>Pipeline Engineering Principles:</a:t>
            </a:r>
          </a:p>
          <a:p>
            <a:pPr>
              <a:defRPr sz="1050">
                <a:solidFill>
                  <a:srgbClr val="1E293B"/>
                </a:solidFill>
              </a:defRPr>
            </a:pPr>
            <a:r>
              <a:t>1. Early Discard: 88%+ of frames are dropped at Step 3 via hardware popcnt dHash before incurring expensive OCR or disk writes.</a:t>
            </a:r>
            <a:br/>
            <a:r>
              <a:t>2. Accessibility Over OCR: Step 4 queries exact OS UI Automation memory nodes, achieving 100% character accuracy on code and URLs.</a:t>
            </a:r>
            <a:br/>
            <a:r>
              <a:t>3. Zero-Knowledge Guarantees: Sensitive tokens are stripped and encrypted before persistence, ensuring the database is cryptographically secure at rest.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Deep Dive: Event-Driven Screen Ingestion &amp; Perceptual dHash</a:t>
            </a:r>
          </a:p>
          <a:p>
            <a:pPr>
              <a:spcBef>
                <a:spcPts val="300"/>
              </a:spcBef>
              <a:defRPr sz="1200" i="1">
                <a:solidFill>
                  <a:srgbClr val="64748B"/>
                </a:solidFill>
                <a:latin typeface="Calibri"/>
              </a:defRPr>
            </a:pPr>
            <a:r>
              <a:t>Eliminating Redundant Video Capture via 64-Bit Difference Hashing</a:t>
            </a:r>
          </a:p>
        </p:txBody>
      </p:sp>
      <p:sp>
        <p:nvSpPr>
          <p:cNvPr id="3" name="TextBox 2"/>
          <p:cNvSpPr txBox="1"/>
          <p:nvPr/>
        </p:nvSpPr>
        <p:spPr>
          <a:xfrm>
            <a:off x="731520" y="1645920"/>
            <a:ext cx="6858000" cy="4754880"/>
          </a:xfrm>
          <a:prstGeom prst="rect">
            <a:avLst/>
          </a:prstGeom>
          <a:noFill/>
        </p:spPr>
        <p:txBody>
          <a:bodyPr wrap="square" lIns="0" tIns="0" rIns="0" bIns="0">
            <a:spAutoFit/>
          </a:bodyPr>
          <a:lstStyle/>
          <a:p>
            <a:pPr>
              <a:spcAft>
                <a:spcPts val="1000"/>
              </a:spcAft>
              <a:defRPr sz="1150">
                <a:latin typeface="Calibri"/>
              </a:defRPr>
            </a:pPr>
            <a:r>
              <a:rPr b="1">
                <a:solidFill>
                  <a:srgbClr val="0F172A"/>
                </a:solidFill>
              </a:rPr>
              <a:t>• OS Event Tap Hooks: </a:t>
            </a:r>
            <a:r>
              <a:rPr>
                <a:solidFill>
                  <a:srgbClr val="1E293B"/>
                </a:solidFill>
              </a:rPr>
              <a:t>Desk-AI listens to system event streams (mouse clicks, app focus switches, window repositioning, and keyboard typing pauses) rather than executing blind periodic polling. Captures occur only when the human workspace state changes.</a:t>
            </a:r>
          </a:p>
          <a:p>
            <a:pPr>
              <a:spcAft>
                <a:spcPts val="1000"/>
              </a:spcAft>
              <a:defRPr sz="1150">
                <a:latin typeface="Calibri"/>
              </a:defRPr>
            </a:pPr>
            <a:r>
              <a:rPr b="1">
                <a:solidFill>
                  <a:srgbClr val="0F172A"/>
                </a:solidFill>
              </a:rPr>
              <a:t>• Bilinear Matrix Downsampling: </a:t>
            </a:r>
            <a:r>
              <a:rPr>
                <a:solidFill>
                  <a:srgbClr val="1E293B"/>
                </a:solidFill>
              </a:rPr>
              <a:t>Captured high-resolution display buffers (up to 4K RGB) are downsampled to a compact 9x8 grayscale matrix using bilinear filtering, eliminating high-frequency display noise, cursor blinks, and subpixel rendering artifacts.</a:t>
            </a:r>
          </a:p>
          <a:p>
            <a:pPr>
              <a:spcAft>
                <a:spcPts val="1000"/>
              </a:spcAft>
              <a:defRPr sz="1150">
                <a:latin typeface="Calibri"/>
              </a:defRPr>
            </a:pPr>
            <a:r>
              <a:rPr b="1">
                <a:solidFill>
                  <a:srgbClr val="0F172A"/>
                </a:solidFill>
              </a:rPr>
              <a:t>• Row-Wise Gradient Extraction: </a:t>
            </a:r>
            <a:r>
              <a:rPr>
                <a:solidFill>
                  <a:srgbClr val="1E293B"/>
                </a:solidFill>
              </a:rPr>
              <a:t>Adjacent horizontal pixels in each row are compared to produce an 8x8 binary bitmap:
   Bit(x, y) = 1  if  Pixel(x, y) &gt; Pixel(x+1, y)  else  0
This yields a robust, orientation-sensitive 64-bit unsigned integer fingerprint (`u64`).</a:t>
            </a:r>
          </a:p>
          <a:p>
            <a:pPr>
              <a:spcAft>
                <a:spcPts val="1000"/>
              </a:spcAft>
              <a:defRPr sz="1150">
                <a:latin typeface="Calibri"/>
              </a:defRPr>
            </a:pPr>
            <a:r>
              <a:rPr b="1">
                <a:solidFill>
                  <a:srgbClr val="0F172A"/>
                </a:solidFill>
              </a:rPr>
              <a:t>• Hardware Popcount Hamming Distance: </a:t>
            </a:r>
            <a:r>
              <a:rPr>
                <a:solidFill>
                  <a:srgbClr val="1E293B"/>
                </a:solidFill>
              </a:rPr>
              <a:t>The Hamming distance between consecutive frame dHashes is evaluated via the CPU's native `popcnt` instruction in under 1 nanosecond. If Hamming Distance &lt; 3 bits, the frame is classified as visually identical and dropped.</a:t>
            </a:r>
          </a:p>
          <a:p>
            <a:pPr>
              <a:spcAft>
                <a:spcPts val="1000"/>
              </a:spcAft>
              <a:defRPr sz="1150">
                <a:latin typeface="Calibri"/>
              </a:defRPr>
            </a:pPr>
            <a:r>
              <a:rPr b="1">
                <a:solidFill>
                  <a:srgbClr val="0F172A"/>
                </a:solidFill>
              </a:rPr>
              <a:t>• Performance &amp; Battery Impact: </a:t>
            </a:r>
            <a:r>
              <a:rPr>
                <a:solidFill>
                  <a:srgbClr val="1E293B"/>
                </a:solidFill>
              </a:rPr>
              <a:t>Empirical tests confirm &gt;88% frame reduction during coding and reading sessions, slashing storage growth from ~120 GB/month down to &lt;15 GB/month and keeping capture CPU load under 5%.</a:t>
            </a:r>
          </a:p>
        </p:txBody>
      </p:sp>
      <p:sp>
        <p:nvSpPr>
          <p:cNvPr id="4" name="Rounded Rectangle 3"/>
          <p:cNvSpPr/>
          <p:nvPr/>
        </p:nvSpPr>
        <p:spPr>
          <a:xfrm>
            <a:off x="7863840" y="1645920"/>
            <a:ext cx="3566160" cy="4572000"/>
          </a:xfrm>
          <a:prstGeom prst="round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800"/>
              </a:spcAft>
              <a:defRPr sz="950">
                <a:solidFill>
                  <a:srgbClr val="94A3B8"/>
                </a:solidFill>
                <a:latin typeface="Consolas"/>
              </a:defRPr>
            </a:pPr>
            <a:r>
              <a:t>// Rust: desk-ai-screen/dhash.rs</a:t>
            </a:r>
          </a:p>
          <a:p>
            <a:pPr>
              <a:defRPr sz="850">
                <a:solidFill>
                  <a:srgbClr val="E2E8F0"/>
                </a:solidFill>
                <a:latin typeface="Consolas"/>
              </a:defRPr>
            </a:pPr>
            <a:r>
              <a:t>pub fn calculate_dhash(img: &amp;GrayImage) -&gt; u64 {</a:t>
            </a:r>
            <a:br/>
            <a:r>
              <a:t>    let r = imageops::resize(</a:t>
            </a:r>
            <a:br/>
            <a:r>
              <a:t>        img, 9, 8, FilterType::Nearest</a:t>
            </a:r>
            <a:br/>
            <a:r>
              <a:t>    );</a:t>
            </a:r>
            <a:br/>
            <a:r>
              <a:t>    let mut hash: u64 = 0;</a:t>
            </a:r>
            <a:br/>
            <a:r>
              <a:t>    for y in 0..8 {</a:t>
            </a:r>
            <a:br/>
            <a:r>
              <a:t>        for x in 0..8 {</a:t>
            </a:r>
            <a:br/>
            <a:r>
              <a:t>            if r.get_pixel(x, y)[0] &gt;</a:t>
            </a:r>
            <a:br/>
            <a:r>
              <a:t>               r.get_pixel(x + 1, y)[0] {</a:t>
            </a:r>
            <a:br/>
            <a:r>
              <a:t>                hash |= 1 &lt;&lt; (y * 8 + x);</a:t>
            </a:r>
            <a:br/>
            <a:r>
              <a:t>            }</a:t>
            </a:r>
            <a:br/>
            <a:r>
              <a:t>        }</a:t>
            </a:r>
            <a:br/>
            <a:r>
              <a:t>    }</a:t>
            </a:r>
            <a:br/>
            <a:r>
              <a:t>    hash</a:t>
            </a:r>
            <a:br/>
            <a:r>
              <a:t>}</a:t>
            </a:r>
            <a:br/>
            <a:br/>
            <a:r>
              <a:t>// Fast Hamming Distance:</a:t>
            </a:r>
            <a:br/>
            <a:r>
              <a:t>let diff = (h1 ^ h2).count_ones();</a:t>
            </a:r>
            <a:br/>
            <a:r>
              <a:t>if diff &lt; 3 { return Discard;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Deep Dive: Dual-Stream Audio, Silero VAD &amp; Local Whisper STT</a:t>
            </a:r>
          </a:p>
          <a:p>
            <a:pPr>
              <a:spcBef>
                <a:spcPts val="300"/>
              </a:spcBef>
              <a:defRPr sz="1200" i="1">
                <a:solidFill>
                  <a:srgbClr val="64748B"/>
                </a:solidFill>
                <a:latin typeface="Calibri"/>
              </a:defRPr>
            </a:pPr>
            <a:r>
              <a:t>Capturing Both Sides of Verbal Conversations Without Remote Audio Exfiltration</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Pr>
              <a:spcAft>
                <a:spcPts val="1200"/>
              </a:spcAft>
              <a:defRPr sz="1200">
                <a:latin typeface="Calibri"/>
              </a:defRPr>
            </a:pPr>
            <a:r>
              <a:rPr b="1">
                <a:solidFill>
                  <a:srgbClr val="0F172A"/>
                </a:solidFill>
              </a:rPr>
              <a:t>• Synchronous Dual-Channel Audio Loopback: </a:t>
            </a:r>
            <a:r>
              <a:rPr>
                <a:solidFill>
                  <a:srgbClr val="1E293B"/>
                </a:solidFill>
              </a:rPr>
              <a:t>Captures system audio output (WASAPI Loopback on Windows, CoreAudio on macOS) to record remote meeting attendees, while simultaneously recording the user's local microphone in separate 16 kHz 16-bit mono PCM buffers.</a:t>
            </a:r>
          </a:p>
          <a:p>
            <a:pPr>
              <a:spcAft>
                <a:spcPts val="1200"/>
              </a:spcAft>
              <a:defRPr sz="1200">
                <a:latin typeface="Calibri"/>
              </a:defRPr>
            </a:pPr>
            <a:r>
              <a:rPr b="1">
                <a:solidFill>
                  <a:srgbClr val="0F172A"/>
                </a:solidFill>
              </a:rPr>
              <a:t>• Silero Voice Activity Detection (VAD): </a:t>
            </a:r>
            <a:r>
              <a:rPr>
                <a:solidFill>
                  <a:srgbClr val="1E293B"/>
                </a:solidFill>
              </a:rPr>
              <a:t>A lightweight 5-layer recurrent neural network operates on 30ms audio windows (512 samples). Continuous speech probability is tracked; if probability &lt; 0.5, audio is dropped immediately to avoid loading speech models on silence.</a:t>
            </a:r>
          </a:p>
          <a:p>
            <a:pPr>
              <a:spcAft>
                <a:spcPts val="1200"/>
              </a:spcAft>
              <a:defRPr sz="1200">
                <a:latin typeface="Calibri"/>
              </a:defRPr>
            </a:pPr>
            <a:r>
              <a:rPr b="1">
                <a:solidFill>
                  <a:srgbClr val="0F172A"/>
                </a:solidFill>
              </a:rPr>
              <a:t>• On-Device Whisper Large-v3-Turbo: </a:t>
            </a:r>
            <a:r>
              <a:rPr>
                <a:solidFill>
                  <a:srgbClr val="1E293B"/>
                </a:solidFill>
              </a:rPr>
              <a:t>Speech segments are transcribed entirely locally via Whisper Large-v3-Turbo executed through ONNX Runtime (`ort`) or quantized Whisper.cpp, extracting text, timestamps, and confidence scores with zero cloud API latency.</a:t>
            </a:r>
          </a:p>
          <a:p>
            <a:pPr>
              <a:spcAft>
                <a:spcPts val="1200"/>
              </a:spcAft>
              <a:defRPr sz="1200">
                <a:latin typeface="Calibri"/>
              </a:defRPr>
            </a:pPr>
            <a:r>
              <a:rPr b="1">
                <a:solidFill>
                  <a:srgbClr val="0F172A"/>
                </a:solidFill>
              </a:rPr>
              <a:t>• Acoustic Speaker Diarization &amp; Centroids: </a:t>
            </a:r>
            <a:r>
              <a:rPr>
                <a:solidFill>
                  <a:srgbClr val="1E293B"/>
                </a:solidFill>
              </a:rPr>
              <a:t>Computes 512-dimensional voiceprint embeddings for active audio chunks, clustering speaker identities across meeting sessions into distinct speaker centroids ('Speaker 0', 'Speaker 1') aligned with calendar events.</a:t>
            </a:r>
          </a:p>
          <a:p>
            <a:pPr>
              <a:spcAft>
                <a:spcPts val="1200"/>
              </a:spcAft>
              <a:defRPr sz="1200">
                <a:latin typeface="Calibri"/>
              </a:defRPr>
            </a:pPr>
            <a:r>
              <a:rPr b="1">
                <a:solidFill>
                  <a:srgbClr val="0F172A"/>
                </a:solidFill>
              </a:rPr>
              <a:t>• Clock Drift Resampling Compensation: </a:t>
            </a:r>
            <a:r>
              <a:rPr>
                <a:solidFill>
                  <a:srgbClr val="1E293B"/>
                </a:solidFill>
              </a:rPr>
              <a:t>Hardware audio sample clocks drift relative to monotonic system clocks over extended captures. Desk-AI integrates `libsamplerate` automated resampling, maintaining audio-to-screen alignment within 50ms.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Deep Dive: Zero-Knowledge Security &amp; DESKVAULT1 Encryption</a:t>
            </a:r>
          </a:p>
          <a:p>
            <a:pPr>
              <a:spcBef>
                <a:spcPts val="300"/>
              </a:spcBef>
              <a:defRPr sz="1200" i="1">
                <a:solidFill>
                  <a:srgbClr val="64748B"/>
                </a:solidFill>
                <a:latin typeface="Calibri"/>
              </a:defRPr>
            </a:pPr>
            <a:r>
              <a:t>Hardware-Attested Data Isolation, Argon2id Key Derivation, and Automated PII Redaction</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Pr>
              <a:spcAft>
                <a:spcPts val="1200"/>
              </a:spcAft>
              <a:defRPr sz="1200">
                <a:latin typeface="Calibri"/>
              </a:defRPr>
            </a:pPr>
            <a:r>
              <a:rPr b="1">
                <a:solidFill>
                  <a:srgbClr val="0F172A"/>
                </a:solidFill>
              </a:rPr>
              <a:t>• Pre-Persistence PII Redaction (desk-ai-redact): </a:t>
            </a:r>
            <a:r>
              <a:rPr>
                <a:solidFill>
                  <a:srgbClr val="1E293B"/>
                </a:solidFill>
              </a:rPr>
              <a:t>All extracted screen text and audio transcripts pass through a local Named Entity Recognition (NER) model and regex classifier. Credit cards, SSNs, passwords, and API keys are pseudonymized (`[REDACTED_CREDIT_CARD]`) and their bounding boxes blacked out on stored image frames.</a:t>
            </a:r>
          </a:p>
          <a:p>
            <a:pPr>
              <a:spcAft>
                <a:spcPts val="1200"/>
              </a:spcAft>
              <a:defRPr sz="1200">
                <a:latin typeface="Calibri"/>
              </a:defRPr>
            </a:pPr>
            <a:r>
              <a:rPr b="1">
                <a:solidFill>
                  <a:srgbClr val="0F172A"/>
                </a:solidFill>
              </a:rPr>
              <a:t>• The DESKVAULT1 Streaming Container: </a:t>
            </a:r>
            <a:r>
              <a:rPr>
                <a:solidFill>
                  <a:srgbClr val="1E293B"/>
                </a:solidFill>
              </a:rPr>
              <a:t>Encrypted files are segmented into 64 KB blocks, each protected with ChaCha20-Poly1305 Authenticated Encryption with Associated Data (AEAD). Nonces are generated dynamically: `ChunkNonce = BaseNonce XOR ChunkIndex` to prevent nonce reuse.</a:t>
            </a:r>
          </a:p>
          <a:p>
            <a:pPr>
              <a:spcAft>
                <a:spcPts val="1200"/>
              </a:spcAft>
              <a:defRPr sz="1200">
                <a:latin typeface="Calibri"/>
              </a:defRPr>
            </a:pPr>
            <a:r>
              <a:rPr b="1">
                <a:solidFill>
                  <a:srgbClr val="0F172A"/>
                </a:solidFill>
              </a:rPr>
              <a:t>• Argon2id Memory-Hard Key Derivation: </a:t>
            </a:r>
            <a:r>
              <a:rPr>
                <a:solidFill>
                  <a:srgbClr val="1E293B"/>
                </a:solidFill>
              </a:rPr>
              <a:t>User master keys are stretched using Argon2id (m=64MB, t=3, p=4), providing state-of-the-art resistance against GPU/ASIC brute-force dictionary attacks. Master keys are sealed inside OS hardware keychains (Windows Credential Guard, Apple Keychain).</a:t>
            </a:r>
          </a:p>
          <a:p>
            <a:pPr>
              <a:spcAft>
                <a:spcPts val="1200"/>
              </a:spcAft>
              <a:defRPr sz="1200">
                <a:latin typeface="Calibri"/>
              </a:defRPr>
            </a:pPr>
            <a:r>
              <a:rPr b="1">
                <a:solidFill>
                  <a:srgbClr val="0F172A"/>
                </a:solidFill>
              </a:rPr>
              <a:t>• Hardware DRM &amp; Incognito Window Suppression: </a:t>
            </a:r>
            <a:r>
              <a:rPr>
                <a:solidFill>
                  <a:srgbClr val="1E293B"/>
                </a:solidFill>
              </a:rPr>
              <a:t>Monitors window security attributes and process identifiers. When HDCP-protected media players (Netflix, Spotify) or browser incognito sessions enter focus, capture is immediately suspended to preserve privacy and prevent black-screen artifacts.</a:t>
            </a:r>
          </a:p>
          <a:p>
            <a:pPr>
              <a:spcAft>
                <a:spcPts val="1200"/>
              </a:spcAft>
              <a:defRPr sz="1200">
                <a:latin typeface="Calibri"/>
              </a:defRPr>
            </a:pPr>
            <a:r>
              <a:rPr b="1">
                <a:solidFill>
                  <a:srgbClr val="0F172A"/>
                </a:solidFill>
              </a:rPr>
              <a:t>• Confidential Enclave Attestation: </a:t>
            </a:r>
            <a:r>
              <a:rPr>
                <a:solidFill>
                  <a:srgbClr val="1E293B"/>
                </a:solidFill>
              </a:rPr>
              <a:t>Integrates Tinfoil confidential computing (`tinfoil-rs`), validating that cryptographic key operations execute within hardware-attested Trusted Execution Environments (TEEs).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Backend Data Architecture: SQLite WAL &amp; FTS5 Indexing</a:t>
            </a:r>
          </a:p>
          <a:p>
            <a:pPr>
              <a:spcBef>
                <a:spcPts val="300"/>
              </a:spcBef>
              <a:defRPr sz="1200" i="1">
                <a:solidFill>
                  <a:srgbClr val="64748B"/>
                </a:solidFill>
                <a:latin typeface="Calibri"/>
              </a:defRPr>
            </a:pPr>
            <a:r>
              <a:t>High-Throughput Concurrency, Normalized Relational Schemas, and Sub-40ms Search</a:t>
            </a:r>
          </a:p>
        </p:txBody>
      </p:sp>
      <p:graphicFrame>
        <p:nvGraphicFramePr>
          <p:cNvPr id="3" name="Table 2"/>
          <p:cNvGraphicFramePr>
            <a:graphicFrameLocks noGrp="1"/>
          </p:cNvGraphicFramePr>
          <p:nvPr/>
        </p:nvGraphicFramePr>
        <p:xfrm>
          <a:off x="731520" y="1645920"/>
          <a:ext cx="10728655" cy="3108960"/>
        </p:xfrm>
        <a:graphic>
          <a:graphicData uri="http://schemas.openxmlformats.org/drawingml/2006/table">
            <a:tbl>
              <a:tblPr firstRow="1" bandRow="1">
                <a:tableStyleId>{5C22544A-7EE6-4342-B048-85BDC9FD1C3A}</a:tableStyleId>
              </a:tblPr>
              <a:tblGrid>
                <a:gridCol w="1645920"/>
                <a:gridCol w="2011680"/>
                <a:gridCol w="2560320"/>
                <a:gridCol w="4510735"/>
              </a:tblGrid>
              <a:tr h="518160">
                <a:tc>
                  <a:txBody>
                    <a:bodyPr/>
                    <a:lstStyle/>
                    <a:p>
                      <a:pPr algn="l">
                        <a:defRPr sz="1000" b="1">
                          <a:solidFill>
                            <a:srgbClr val="FFFFFF"/>
                          </a:solidFill>
                          <a:latin typeface="Calibri"/>
                        </a:defRPr>
                      </a:pPr>
                      <a:r>
                        <a:t>Table Name</a:t>
                      </a:r>
                    </a:p>
                  </a:txBody>
                  <a:tcPr anchor="ctr">
                    <a:solidFill>
                      <a:srgbClr val="1E293B"/>
                    </a:solidFill>
                  </a:tcPr>
                </a:tc>
                <a:tc>
                  <a:txBody>
                    <a:bodyPr/>
                    <a:lstStyle/>
                    <a:p>
                      <a:pPr algn="l">
                        <a:defRPr sz="1000" b="1">
                          <a:solidFill>
                            <a:srgbClr val="FFFFFF"/>
                          </a:solidFill>
                          <a:latin typeface="Calibri"/>
                        </a:defRPr>
                      </a:pPr>
                      <a:r>
                        <a:t>Primary Keys / Foreign Keys</a:t>
                      </a:r>
                    </a:p>
                  </a:txBody>
                  <a:tcPr anchor="ctr">
                    <a:solidFill>
                      <a:srgbClr val="1E293B"/>
                    </a:solidFill>
                  </a:tcPr>
                </a:tc>
                <a:tc>
                  <a:txBody>
                    <a:bodyPr/>
                    <a:lstStyle/>
                    <a:p>
                      <a:pPr algn="l">
                        <a:defRPr sz="1000" b="1">
                          <a:solidFill>
                            <a:srgbClr val="FFFFFF"/>
                          </a:solidFill>
                          <a:latin typeface="Calibri"/>
                        </a:defRPr>
                      </a:pPr>
                      <a:r>
                        <a:t>Indexed Attributes</a:t>
                      </a:r>
                    </a:p>
                  </a:txBody>
                  <a:tcPr anchor="ctr">
                    <a:solidFill>
                      <a:srgbClr val="1E293B"/>
                    </a:solidFill>
                  </a:tcPr>
                </a:tc>
                <a:tc>
                  <a:txBody>
                    <a:bodyPr/>
                    <a:lstStyle/>
                    <a:p>
                      <a:pPr algn="l">
                        <a:defRPr sz="1000" b="1">
                          <a:solidFill>
                            <a:srgbClr val="FFFFFF"/>
                          </a:solidFill>
                          <a:latin typeface="Calibri"/>
                        </a:defRPr>
                      </a:pPr>
                      <a:r>
                        <a:t>Functional Description &amp; Semantics</a:t>
                      </a:r>
                    </a:p>
                  </a:txBody>
                  <a:tcPr anchor="ctr">
                    <a:solidFill>
                      <a:srgbClr val="1E293B"/>
                    </a:solidFill>
                  </a:tcPr>
                </a:tc>
              </a:tr>
              <a:tr h="518160">
                <a:tc>
                  <a:txBody>
                    <a:bodyPr/>
                    <a:lstStyle/>
                    <a:p>
                      <a:pPr algn="l">
                        <a:defRPr sz="950" b="1">
                          <a:solidFill>
                            <a:srgbClr val="1E293B"/>
                          </a:solidFill>
                          <a:latin typeface="Calibri"/>
                        </a:defRPr>
                      </a:pPr>
                      <a:r>
                        <a:t>frames</a:t>
                      </a:r>
                    </a:p>
                  </a:txBody>
                  <a:tcPr anchor="ctr">
                    <a:solidFill>
                      <a:srgbClr val="F8FAFC"/>
                    </a:solidFill>
                  </a:tcPr>
                </a:tc>
                <a:tc>
                  <a:txBody>
                    <a:bodyPr/>
                    <a:lstStyle/>
                    <a:p>
                      <a:pPr algn="l">
                        <a:defRPr sz="950" b="0">
                          <a:solidFill>
                            <a:srgbClr val="1E293B"/>
                          </a:solidFill>
                          <a:latin typeface="Calibri"/>
                        </a:defRPr>
                      </a:pPr>
                      <a:r>
                        <a:t>id (INTEGER PK)</a:t>
                      </a:r>
                    </a:p>
                  </a:txBody>
                  <a:tcPr anchor="ctr">
                    <a:solidFill>
                      <a:srgbClr val="F8FAFC"/>
                    </a:solidFill>
                  </a:tcPr>
                </a:tc>
                <a:tc>
                  <a:txBody>
                    <a:bodyPr/>
                    <a:lstStyle/>
                    <a:p>
                      <a:pPr algn="l">
                        <a:defRPr sz="950" b="0">
                          <a:solidFill>
                            <a:srgbClr val="1E293B"/>
                          </a:solidFill>
                          <a:latin typeface="Calibri"/>
                        </a:defRPr>
                      </a:pPr>
                      <a:r>
                        <a:t>timestamp, app_name, browser_url</a:t>
                      </a:r>
                    </a:p>
                  </a:txBody>
                  <a:tcPr anchor="ctr">
                    <a:solidFill>
                      <a:srgbClr val="F8FAFC"/>
                    </a:solidFill>
                  </a:tcPr>
                </a:tc>
                <a:tc>
                  <a:txBody>
                    <a:bodyPr/>
                    <a:lstStyle/>
                    <a:p>
                      <a:pPr algn="l">
                        <a:defRPr sz="950" b="0">
                          <a:solidFill>
                            <a:srgbClr val="1E293B"/>
                          </a:solidFill>
                          <a:latin typeface="Calibri"/>
                        </a:defRPr>
                      </a:pPr>
                      <a:r>
                        <a:t>Visual capture snapshots, active window titles, URLs, and 64-bit dHash fingerprints.</a:t>
                      </a:r>
                    </a:p>
                  </a:txBody>
                  <a:tcPr anchor="ctr">
                    <a:solidFill>
                      <a:srgbClr val="F8FAFC"/>
                    </a:solidFill>
                  </a:tcPr>
                </a:tc>
              </a:tr>
              <a:tr h="518160">
                <a:tc>
                  <a:txBody>
                    <a:bodyPr/>
                    <a:lstStyle/>
                    <a:p>
                      <a:pPr algn="l">
                        <a:defRPr sz="950" b="1">
                          <a:solidFill>
                            <a:srgbClr val="1E293B"/>
                          </a:solidFill>
                          <a:latin typeface="Calibri"/>
                        </a:defRPr>
                      </a:pPr>
                      <a:r>
                        <a:t>elements</a:t>
                      </a:r>
                    </a:p>
                  </a:txBody>
                  <a:tcPr anchor="ctr">
                    <a:solidFill>
                      <a:srgbClr val="FFFFFF"/>
                    </a:solidFill>
                  </a:tcPr>
                </a:tc>
                <a:tc>
                  <a:txBody>
                    <a:bodyPr/>
                    <a:lstStyle/>
                    <a:p>
                      <a:pPr algn="l">
                        <a:defRPr sz="950" b="0">
                          <a:solidFill>
                            <a:srgbClr val="1E293B"/>
                          </a:solidFill>
                          <a:latin typeface="Calibri"/>
                        </a:defRPr>
                      </a:pPr>
                      <a:r>
                        <a:t>id (INTEGER PK), frame_id (FK)</a:t>
                      </a:r>
                    </a:p>
                  </a:txBody>
                  <a:tcPr anchor="ctr">
                    <a:solidFill>
                      <a:srgbClr val="FFFFFF"/>
                    </a:solidFill>
                  </a:tcPr>
                </a:tc>
                <a:tc>
                  <a:txBody>
                    <a:bodyPr/>
                    <a:lstStyle/>
                    <a:p>
                      <a:pPr algn="l">
                        <a:defRPr sz="950" b="0">
                          <a:solidFill>
                            <a:srgbClr val="1E293B"/>
                          </a:solidFill>
                          <a:latin typeface="Calibri"/>
                        </a:defRPr>
                      </a:pPr>
                      <a:r>
                        <a:t>frame_id, role, activity_summary</a:t>
                      </a:r>
                    </a:p>
                  </a:txBody>
                  <a:tcPr anchor="ctr">
                    <a:solidFill>
                      <a:srgbClr val="FFFFFF"/>
                    </a:solidFill>
                  </a:tcPr>
                </a:tc>
                <a:tc>
                  <a:txBody>
                    <a:bodyPr/>
                    <a:lstStyle/>
                    <a:p>
                      <a:pPr algn="l">
                        <a:defRPr sz="950" b="0">
                          <a:solidFill>
                            <a:srgbClr val="1E293B"/>
                          </a:solidFill>
                          <a:latin typeface="Calibri"/>
                        </a:defRPr>
                      </a:pPr>
                      <a:r>
                        <a:t>Normalized accessibility tree UI nodes (buttons, text fields, URLs, bounding boxes).</a:t>
                      </a:r>
                    </a:p>
                  </a:txBody>
                  <a:tcPr anchor="ctr">
                    <a:solidFill>
                      <a:srgbClr val="FFFFFF"/>
                    </a:solidFill>
                  </a:tcPr>
                </a:tc>
              </a:tr>
              <a:tr h="518160">
                <a:tc>
                  <a:txBody>
                    <a:bodyPr/>
                    <a:lstStyle/>
                    <a:p>
                      <a:pPr algn="l">
                        <a:defRPr sz="950" b="1">
                          <a:solidFill>
                            <a:srgbClr val="1E293B"/>
                          </a:solidFill>
                          <a:latin typeface="Calibri"/>
                        </a:defRPr>
                      </a:pPr>
                      <a:r>
                        <a:t>audio_transcriptions</a:t>
                      </a:r>
                    </a:p>
                  </a:txBody>
                  <a:tcPr anchor="ctr">
                    <a:solidFill>
                      <a:srgbClr val="F8FAFC"/>
                    </a:solidFill>
                  </a:tcPr>
                </a:tc>
                <a:tc>
                  <a:txBody>
                    <a:bodyPr/>
                    <a:lstStyle/>
                    <a:p>
                      <a:pPr algn="l">
                        <a:defRPr sz="950" b="0">
                          <a:solidFill>
                            <a:srgbClr val="1E293B"/>
                          </a:solidFill>
                          <a:latin typeface="Calibri"/>
                        </a:defRPr>
                      </a:pPr>
                      <a:r>
                        <a:t>id (INTEGER PK), chunk_id (FK)</a:t>
                      </a:r>
                    </a:p>
                  </a:txBody>
                  <a:tcPr anchor="ctr">
                    <a:solidFill>
                      <a:srgbClr val="F8FAFC"/>
                    </a:solidFill>
                  </a:tcPr>
                </a:tc>
                <a:tc>
                  <a:txBody>
                    <a:bodyPr/>
                    <a:lstStyle/>
                    <a:p>
                      <a:pPr algn="l">
                        <a:defRPr sz="950" b="0">
                          <a:solidFill>
                            <a:srgbClr val="1E293B"/>
                          </a:solidFill>
                          <a:latin typeface="Calibri"/>
                        </a:defRPr>
                      </a:pPr>
                      <a:r>
                        <a:t>speaker_id, timestamp, engine</a:t>
                      </a:r>
                    </a:p>
                  </a:txBody>
                  <a:tcPr anchor="ctr">
                    <a:solidFill>
                      <a:srgbClr val="F8FAFC"/>
                    </a:solidFill>
                  </a:tcPr>
                </a:tc>
                <a:tc>
                  <a:txBody>
                    <a:bodyPr/>
                    <a:lstStyle/>
                    <a:p>
                      <a:pPr algn="l">
                        <a:defRPr sz="950" b="0">
                          <a:solidFill>
                            <a:srgbClr val="1E293B"/>
                          </a:solidFill>
                          <a:latin typeface="Calibri"/>
                        </a:defRPr>
                      </a:pPr>
                      <a:r>
                        <a:t>Whisper speech transcripts, detected languages, speaker IDs, and confidence scores.</a:t>
                      </a:r>
                    </a:p>
                  </a:txBody>
                  <a:tcPr anchor="ctr">
                    <a:solidFill>
                      <a:srgbClr val="F8FAFC"/>
                    </a:solidFill>
                  </a:tcPr>
                </a:tc>
              </a:tr>
              <a:tr h="518160">
                <a:tc>
                  <a:txBody>
                    <a:bodyPr/>
                    <a:lstStyle/>
                    <a:p>
                      <a:pPr algn="l">
                        <a:defRPr sz="950" b="1">
                          <a:solidFill>
                            <a:srgbClr val="1E293B"/>
                          </a:solidFill>
                          <a:latin typeface="Calibri"/>
                        </a:defRPr>
                      </a:pPr>
                      <a:r>
                        <a:t>meetings</a:t>
                      </a:r>
                    </a:p>
                  </a:txBody>
                  <a:tcPr anchor="ctr">
                    <a:solidFill>
                      <a:srgbClr val="FFFFFF"/>
                    </a:solidFill>
                  </a:tcPr>
                </a:tc>
                <a:tc>
                  <a:txBody>
                    <a:bodyPr/>
                    <a:lstStyle/>
                    <a:p>
                      <a:pPr algn="l">
                        <a:defRPr sz="950" b="0">
                          <a:solidFill>
                            <a:srgbClr val="1E293B"/>
                          </a:solidFill>
                          <a:latin typeface="Calibri"/>
                        </a:defRPr>
                      </a:pPr>
                      <a:r>
                        <a:t>id (INTEGER PK)</a:t>
                      </a:r>
                    </a:p>
                  </a:txBody>
                  <a:tcPr anchor="ctr">
                    <a:solidFill>
                      <a:srgbClr val="FFFFFF"/>
                    </a:solidFill>
                  </a:tcPr>
                </a:tc>
                <a:tc>
                  <a:txBody>
                    <a:bodyPr/>
                    <a:lstStyle/>
                    <a:p>
                      <a:pPr algn="l">
                        <a:defRPr sz="950" b="0">
                          <a:solidFill>
                            <a:srgbClr val="1E293B"/>
                          </a:solidFill>
                          <a:latin typeface="Calibri"/>
                        </a:defRPr>
                      </a:pPr>
                      <a:r>
                        <a:t>start_time, end_time, app_name</a:t>
                      </a:r>
                    </a:p>
                  </a:txBody>
                  <a:tcPr anchor="ctr">
                    <a:solidFill>
                      <a:srgbClr val="FFFFFF"/>
                    </a:solidFill>
                  </a:tcPr>
                </a:tc>
                <a:tc>
                  <a:txBody>
                    <a:bodyPr/>
                    <a:lstStyle/>
                    <a:p>
                      <a:pPr algn="l">
                        <a:defRPr sz="950" b="0">
                          <a:solidFill>
                            <a:srgbClr val="1E293B"/>
                          </a:solidFill>
                          <a:latin typeface="Calibri"/>
                        </a:defRPr>
                      </a:pPr>
                      <a:r>
                        <a:t>High-level meeting sessions mapped from active collaboration software (Zoom/Teams).</a:t>
                      </a:r>
                    </a:p>
                  </a:txBody>
                  <a:tcPr anchor="ctr">
                    <a:solidFill>
                      <a:srgbClr val="FFFFFF"/>
                    </a:solidFill>
                  </a:tcPr>
                </a:tc>
              </a:tr>
              <a:tr h="518160">
                <a:tc>
                  <a:txBody>
                    <a:bodyPr/>
                    <a:lstStyle/>
                    <a:p>
                      <a:pPr algn="l">
                        <a:defRPr sz="950" b="1">
                          <a:solidFill>
                            <a:srgbClr val="1E293B"/>
                          </a:solidFill>
                          <a:latin typeface="Calibri"/>
                        </a:defRPr>
                      </a:pPr>
                      <a:r>
                        <a:t>frames_full_text</a:t>
                      </a:r>
                    </a:p>
                  </a:txBody>
                  <a:tcPr anchor="ctr">
                    <a:solidFill>
                      <a:srgbClr val="F8FAFC"/>
                    </a:solidFill>
                  </a:tcPr>
                </a:tc>
                <a:tc>
                  <a:txBody>
                    <a:bodyPr/>
                    <a:lstStyle/>
                    <a:p>
                      <a:pPr algn="l">
                        <a:defRPr sz="950" b="0">
                          <a:solidFill>
                            <a:srgbClr val="1E293B"/>
                          </a:solidFill>
                          <a:latin typeface="Calibri"/>
                        </a:defRPr>
                      </a:pPr>
                      <a:r>
                        <a:t>Virtual FTS5 Table</a:t>
                      </a:r>
                    </a:p>
                  </a:txBody>
                  <a:tcPr anchor="ctr">
                    <a:solidFill>
                      <a:srgbClr val="F8FAFC"/>
                    </a:solidFill>
                  </a:tcPr>
                </a:tc>
                <a:tc>
                  <a:txBody>
                    <a:bodyPr/>
                    <a:lstStyle/>
                    <a:p>
                      <a:pPr algn="l">
                        <a:defRPr sz="950" b="0">
                          <a:solidFill>
                            <a:srgbClr val="1E293B"/>
                          </a:solidFill>
                          <a:latin typeface="Calibri"/>
                        </a:defRPr>
                      </a:pPr>
                      <a:r>
                        <a:t>content, window_name, app_name</a:t>
                      </a:r>
                    </a:p>
                  </a:txBody>
                  <a:tcPr anchor="ctr">
                    <a:solidFill>
                      <a:srgbClr val="F8FAFC"/>
                    </a:solidFill>
                  </a:tcPr>
                </a:tc>
                <a:tc>
                  <a:txBody>
                    <a:bodyPr/>
                    <a:lstStyle/>
                    <a:p>
                      <a:pPr algn="l">
                        <a:defRPr sz="950" b="0">
                          <a:solidFill>
                            <a:srgbClr val="1E293B"/>
                          </a:solidFill>
                          <a:latin typeface="Calibri"/>
                        </a:defRPr>
                      </a:pPr>
                      <a:r>
                        <a:t>Inverted BM25 ranked full-text search index across all visual and acoustic tokens.</a:t>
                      </a:r>
                    </a:p>
                  </a:txBody>
                  <a:tcPr anchor="ctr">
                    <a:solidFill>
                      <a:srgbClr val="F8FAFC"/>
                    </a:solidFill>
                  </a:tcPr>
                </a:tc>
              </a:tr>
            </a:tbl>
          </a:graphicData>
        </a:graphic>
      </p:graphicFrame>
      <p:sp>
        <p:nvSpPr>
          <p:cNvPr id="4" name="TextBox 3"/>
          <p:cNvSpPr txBox="1"/>
          <p:nvPr/>
        </p:nvSpPr>
        <p:spPr>
          <a:xfrm>
            <a:off x="731520" y="4937760"/>
            <a:ext cx="10728655" cy="1645920"/>
          </a:xfrm>
          <a:prstGeom prst="rect">
            <a:avLst/>
          </a:prstGeom>
          <a:noFill/>
        </p:spPr>
        <p:txBody>
          <a:bodyPr wrap="square" lIns="0" tIns="0" rIns="0" bIns="0">
            <a:spAutoFit/>
          </a:bodyPr>
          <a:lstStyle/>
          <a:p>
            <a:pPr>
              <a:spcAft>
                <a:spcPts val="600"/>
              </a:spcAft>
              <a:defRPr sz="1150">
                <a:latin typeface="Calibri"/>
              </a:defRPr>
            </a:pPr>
            <a:r>
              <a:rPr b="1">
                <a:solidFill>
                  <a:srgbClr val="0F172A"/>
                </a:solidFill>
              </a:rPr>
              <a:t>• Single-Writer MPSC Actor Pattern: </a:t>
            </a:r>
            <a:r>
              <a:rPr>
                <a:solidFill>
                  <a:srgbClr val="1E293B"/>
                </a:solidFill>
              </a:rPr>
              <a:t>All capture threads send write operations through a crossbeam MPSC channel to a dedicated background writer, completely eliminating SQLITE_BUSY lock contention.</a:t>
            </a:r>
          </a:p>
          <a:p>
            <a:pPr>
              <a:spcAft>
                <a:spcPts val="600"/>
              </a:spcAft>
              <a:defRPr sz="1150">
                <a:latin typeface="Calibri"/>
              </a:defRPr>
            </a:pPr>
            <a:r>
              <a:rPr b="1">
                <a:solidFill>
                  <a:srgbClr val="0F172A"/>
                </a:solidFill>
              </a:rPr>
              <a:t>• Write-Ahead Logging (WAL) Concurrency: </a:t>
            </a:r>
            <a:r>
              <a:rPr>
                <a:solidFill>
                  <a:srgbClr val="1E293B"/>
                </a:solidFill>
              </a:rPr>
              <a:t>PRAGMA journal_mode = WAL decouples readers from writers, permitting simultaneous, non-blocking full-text search queries from MCP agents while high-frequency capture commits.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User Interface: Desktop Application &amp; Control Center</a:t>
            </a:r>
          </a:p>
          <a:p>
            <a:pPr>
              <a:spcBef>
                <a:spcPts val="300"/>
              </a:spcBef>
              <a:defRPr sz="1200" i="1">
                <a:solidFill>
                  <a:srgbClr val="64748B"/>
                </a:solidFill>
                <a:latin typeface="Calibri"/>
              </a:defRPr>
            </a:pPr>
            <a:r>
              <a:t>Escher Monochrome Interface with Instant Chronological Scrubber (Tauri v2 + Next.js)</a:t>
            </a:r>
          </a:p>
        </p:txBody>
      </p:sp>
      <p:pic>
        <p:nvPicPr>
          <p:cNvPr id="3" name="Picture 2" descr="after-overview.png"/>
          <p:cNvPicPr>
            <a:picLocks noChangeAspect="1"/>
          </p:cNvPicPr>
          <p:nvPr/>
        </p:nvPicPr>
        <p:blipFill>
          <a:blip r:embed="rId2"/>
          <a:stretch>
            <a:fillRect/>
          </a:stretch>
        </p:blipFill>
        <p:spPr>
          <a:xfrm>
            <a:off x="731520" y="1645920"/>
            <a:ext cx="6217920" cy="4663440"/>
          </a:xfrm>
          <a:prstGeom prst="rect">
            <a:avLst/>
          </a:prstGeom>
        </p:spPr>
      </p:pic>
      <p:sp>
        <p:nvSpPr>
          <p:cNvPr id="4" name="TextBox 3"/>
          <p:cNvSpPr txBox="1"/>
          <p:nvPr/>
        </p:nvSpPr>
        <p:spPr>
          <a:xfrm>
            <a:off x="7223760" y="1645920"/>
            <a:ext cx="4206240" cy="4663440"/>
          </a:xfrm>
          <a:prstGeom prst="rect">
            <a:avLst/>
          </a:prstGeom>
          <a:noFill/>
        </p:spPr>
        <p:txBody>
          <a:bodyPr wrap="square" lIns="0" tIns="0" rIns="0" bIns="0">
            <a:spAutoFit/>
          </a:bodyPr>
          <a:lstStyle/>
          <a:p>
            <a:pPr>
              <a:spcAft>
                <a:spcPts val="1400"/>
              </a:spcAft>
              <a:defRPr sz="1150">
                <a:latin typeface="Calibri"/>
              </a:defRPr>
            </a:pPr>
            <a:r>
              <a:rPr b="1">
                <a:solidFill>
                  <a:srgbClr val="0F172A"/>
                </a:solidFill>
              </a:rPr>
              <a:t>• Interactive DVR Timeline Scrubber: </a:t>
            </a:r>
            <a:r>
              <a:rPr>
                <a:solidFill>
                  <a:srgbClr val="1E293B"/>
                </a:solidFill>
              </a:rPr>
              <a:t>Users can scrub backwards seamlessly across their entire workday with sub-second granularity, inspecting visual states, active tabs, and meeting transcripts.</a:t>
            </a:r>
          </a:p>
          <a:p>
            <a:pPr>
              <a:spcAft>
                <a:spcPts val="1400"/>
              </a:spcAft>
              <a:defRPr sz="1150">
                <a:latin typeface="Calibri"/>
              </a:defRPr>
            </a:pPr>
            <a:r>
              <a:rPr b="1">
                <a:solidFill>
                  <a:srgbClr val="0F172A"/>
                </a:solidFill>
              </a:rPr>
              <a:t>• Multimodal Synchronized Inspection: </a:t>
            </a:r>
            <a:r>
              <a:rPr>
                <a:solidFill>
                  <a:srgbClr val="1E293B"/>
                </a:solidFill>
              </a:rPr>
              <a:t>Displays synchronized video frame snapshots, OCR bounding boxes, and time-aligned speech transcripts in a single unified view.</a:t>
            </a:r>
          </a:p>
          <a:p>
            <a:pPr>
              <a:spcAft>
                <a:spcPts val="1400"/>
              </a:spcAft>
              <a:defRPr sz="1150">
                <a:latin typeface="Calibri"/>
              </a:defRPr>
            </a:pPr>
            <a:r>
              <a:rPr b="1">
                <a:solidFill>
                  <a:srgbClr val="0F172A"/>
                </a:solidFill>
              </a:rPr>
              <a:t>• Native App &amp; Connector Registry: </a:t>
            </a:r>
            <a:r>
              <a:rPr>
                <a:solidFill>
                  <a:srgbClr val="1E293B"/>
                </a:solidFill>
              </a:rPr>
              <a:t>One-click local connectors for Google Calendar, Apple Calendar, Gmail, Obsidian, Notion, and Linear for automatic activity correlation.</a:t>
            </a:r>
          </a:p>
          <a:p>
            <a:pPr>
              <a:spcAft>
                <a:spcPts val="1400"/>
              </a:spcAft>
              <a:defRPr sz="1150">
                <a:latin typeface="Calibri"/>
              </a:defRPr>
            </a:pPr>
            <a:r>
              <a:rPr b="1">
                <a:solidFill>
                  <a:srgbClr val="0F172A"/>
                </a:solidFill>
              </a:rPr>
              <a:t>• Instant Privacy Toggles &amp; Ignore Lists: </a:t>
            </a:r>
            <a:r>
              <a:rPr>
                <a:solidFill>
                  <a:srgbClr val="1E293B"/>
                </a:solidFill>
              </a:rPr>
              <a:t>Features a 1-click recording pause toggle, dynamic application deny-lists (e.g. 1Password), and customizable disk storage auto-pruning rules.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Agent Interoperability: Model Context Protocol (MCP) &amp; Pipes</a:t>
            </a:r>
          </a:p>
          <a:p>
            <a:pPr>
              <a:spcBef>
                <a:spcPts val="300"/>
              </a:spcBef>
              <a:defRPr sz="1200" i="1">
                <a:solidFill>
                  <a:srgbClr val="64748B"/>
                </a:solidFill>
                <a:latin typeface="Calibri"/>
              </a:defRPr>
            </a:pPr>
            <a:r>
              <a:t>Bridging Desktop Memory Context to Autonomous AI Coding Agents</a:t>
            </a:r>
          </a:p>
        </p:txBody>
      </p:sp>
      <p:sp>
        <p:nvSpPr>
          <p:cNvPr id="3" name="TextBox 2"/>
          <p:cNvSpPr txBox="1"/>
          <p:nvPr/>
        </p:nvSpPr>
        <p:spPr>
          <a:xfrm>
            <a:off x="731520" y="1645920"/>
            <a:ext cx="6217920" cy="4754880"/>
          </a:xfrm>
          <a:prstGeom prst="rect">
            <a:avLst/>
          </a:prstGeom>
          <a:noFill/>
        </p:spPr>
        <p:txBody>
          <a:bodyPr wrap="square" lIns="0" tIns="0" rIns="0" bIns="0">
            <a:spAutoFit/>
          </a:bodyPr>
          <a:lstStyle/>
          <a:p>
            <a:pPr>
              <a:spcAft>
                <a:spcPts val="1000"/>
              </a:spcAft>
              <a:defRPr sz="1100">
                <a:latin typeface="Calibri"/>
              </a:defRPr>
            </a:pPr>
            <a:r>
              <a:rPr b="1">
                <a:solidFill>
                  <a:srgbClr val="0F172A"/>
                </a:solidFill>
              </a:rPr>
              <a:t>• Official Model Context Protocol (MCP) Server: </a:t>
            </a:r>
            <a:r>
              <a:rPr>
                <a:solidFill>
                  <a:srgbClr val="1E293B"/>
                </a:solidFill>
              </a:rPr>
              <a:t>Implemented in Rust (`desk-ai-mcp`), exposing standardized JSON-RPC tools over bi-directional STDIO and HTTP Server-Sent Events (SSE). Seamlessly connects with Claude Desktop, Cursor AI, and Continue.dev.</a:t>
            </a:r>
          </a:p>
          <a:p>
            <a:pPr>
              <a:spcAft>
                <a:spcPts val="1000"/>
              </a:spcAft>
              <a:defRPr sz="1100">
                <a:latin typeface="Calibri"/>
              </a:defRPr>
            </a:pPr>
            <a:r>
              <a:rPr b="1">
                <a:solidFill>
                  <a:srgbClr val="0F172A"/>
                </a:solidFill>
              </a:rPr>
              <a:t>• Specialized Agent Context Tools: </a:t>
            </a:r>
            <a:r>
              <a:rPr>
                <a:solidFill>
                  <a:srgbClr val="1E293B"/>
                </a:solidFill>
              </a:rPr>
              <a:t>Exposes high-level tools:
• `search_screen_history(q, time_range)`
• `get_recent_context(window_minutes)`
• `query_meeting_transcripts(meeting_id)`
Enables coding agents to autonomously inspect past compiler errors, terminal commands, or discussions.</a:t>
            </a:r>
          </a:p>
          <a:p>
            <a:pPr>
              <a:spcAft>
                <a:spcPts val="1000"/>
              </a:spcAft>
              <a:defRPr sz="1100">
                <a:latin typeface="Calibri"/>
              </a:defRPr>
            </a:pPr>
            <a:r>
              <a:rPr b="1">
                <a:solidFill>
                  <a:srgbClr val="0F172A"/>
                </a:solidFill>
              </a:rPr>
              <a:t>• Autonomous Scheduled Pipes Engine: </a:t>
            </a:r>
            <a:r>
              <a:rPr>
                <a:solidFill>
                  <a:srgbClr val="1E293B"/>
                </a:solidFill>
              </a:rPr>
              <a:t>Automated workflows defined in Markdown files (`pipe.md`) with YAML frontmatter. Executed on cron schedules, pipes run agents that summarize meetings into Obsidian or track build failures.</a:t>
            </a:r>
          </a:p>
          <a:p>
            <a:pPr>
              <a:spcAft>
                <a:spcPts val="1000"/>
              </a:spcAft>
              <a:defRPr sz="1100">
                <a:latin typeface="Calibri"/>
              </a:defRPr>
            </a:pPr>
            <a:r>
              <a:rPr b="1">
                <a:solidFill>
                  <a:srgbClr val="0F172A"/>
                </a:solidFill>
              </a:rPr>
              <a:t>• Deterministic OS Security Sandboxing: </a:t>
            </a:r>
            <a:r>
              <a:rPr>
                <a:solidFill>
                  <a:srgbClr val="1E293B"/>
                </a:solidFill>
              </a:rPr>
              <a:t>Pipes and external agent integrations are strictly sandboxed. Frontmatter rules (`allow-apps`, `deny-apps`, `allow-raw-sql: false`) are verified via cryptographic token gating before any query executes.</a:t>
            </a:r>
          </a:p>
        </p:txBody>
      </p:sp>
      <p:pic>
        <p:nvPicPr>
          <p:cNvPr id="4" name="Picture 3" descr="claude-structured-output-expanded.png"/>
          <p:cNvPicPr>
            <a:picLocks noChangeAspect="1"/>
          </p:cNvPicPr>
          <p:nvPr/>
        </p:nvPicPr>
        <p:blipFill>
          <a:blip r:embed="rId2"/>
          <a:stretch>
            <a:fillRect/>
          </a:stretch>
        </p:blipFill>
        <p:spPr>
          <a:xfrm>
            <a:off x="7223760" y="1645920"/>
            <a:ext cx="4206240" cy="46634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Evolution: Mid-Term Prototype vs. End-Term System</a:t>
            </a:r>
          </a:p>
          <a:p>
            <a:pPr>
              <a:spcBef>
                <a:spcPts val="300"/>
              </a:spcBef>
              <a:defRPr sz="1200" i="1">
                <a:solidFill>
                  <a:srgbClr val="64748B"/>
                </a:solidFill>
                <a:latin typeface="Calibri"/>
              </a:defRPr>
            </a:pPr>
            <a:r>
              <a:t>Architectural Milestones from Experimental Screen Recorder to Production Engine</a:t>
            </a:r>
          </a:p>
        </p:txBody>
      </p:sp>
      <p:sp>
        <p:nvSpPr>
          <p:cNvPr id="3" name="TextBox 2"/>
          <p:cNvSpPr txBox="1"/>
          <p:nvPr/>
        </p:nvSpPr>
        <p:spPr>
          <a:xfrm>
            <a:off x="731520" y="1645920"/>
            <a:ext cx="10728655" cy="4754880"/>
          </a:xfrm>
          <a:prstGeom prst="rect">
            <a:avLst/>
          </a:prstGeom>
          <a:noFill/>
        </p:spPr>
        <p:txBody>
          <a:bodyPr wrap="square" lIns="0" tIns="0" rIns="0" bIns="0">
            <a:spAutoFit/>
          </a:bodyPr>
          <a:lstStyle/>
          <a:p>
            <a:pPr>
              <a:spcAft>
                <a:spcPts val="1000"/>
              </a:spcAft>
              <a:defRPr sz="1100">
                <a:latin typeface="Calibri"/>
              </a:defRPr>
            </a:pPr>
            <a:r>
              <a:rPr b="1">
                <a:solidFill>
                  <a:srgbClr val="0F172A"/>
                </a:solidFill>
              </a:rPr>
              <a:t>• Phase 1: Screen Ingestion Evolution: </a:t>
            </a:r>
            <a:r>
              <a:rPr>
                <a:solidFill>
                  <a:srgbClr val="1E293B"/>
                </a:solidFill>
              </a:rPr>
              <a:t>Mid-Term: Periodic timer snapshot every 3 seconds; consumed 18–25% CPU and generated thousands of duplicate frames.
End-Term: OS event taps (clicks/keys) + 64-bit dHash perceptual filtering; drops &gt;88% of redundant frames, slashing CPU to &lt;5%.</a:t>
            </a:r>
          </a:p>
          <a:p>
            <a:pPr>
              <a:spcAft>
                <a:spcPts val="1000"/>
              </a:spcAft>
              <a:defRPr sz="1100">
                <a:latin typeface="Calibri"/>
              </a:defRPr>
            </a:pPr>
            <a:r>
              <a:rPr b="1">
                <a:solidFill>
                  <a:srgbClr val="0F172A"/>
                </a:solidFill>
              </a:rPr>
              <a:t>• Phase 2: Text Ingestion Evolution: </a:t>
            </a:r>
            <a:r>
              <a:rPr>
                <a:solidFill>
                  <a:srgbClr val="1E293B"/>
                </a:solidFill>
              </a:rPr>
              <a:t>Mid-Term: Relied solely on local Tesseract/Windows Media OCR; slow (&gt;350ms per frame), prone to syntax errors on code and URLs.
End-Term: Native OS Accessibility Tree traversal (UIA COM / AXUIElement); extracts exact text from RAM with OCR strictly as fallback.</a:t>
            </a:r>
          </a:p>
          <a:p>
            <a:pPr>
              <a:spcAft>
                <a:spcPts val="1000"/>
              </a:spcAft>
              <a:defRPr sz="1100">
                <a:latin typeface="Calibri"/>
              </a:defRPr>
            </a:pPr>
            <a:r>
              <a:rPr b="1">
                <a:solidFill>
                  <a:srgbClr val="0F172A"/>
                </a:solidFill>
              </a:rPr>
              <a:t>• Phase 3: Acoustic Pipeline Evolution: </a:t>
            </a:r>
            <a:r>
              <a:rPr>
                <a:solidFill>
                  <a:srgbClr val="1E293B"/>
                </a:solidFill>
              </a:rPr>
              <a:t>Mid-Term: Naive continuous audio recording; transcribing long periods of empty silence wasted CPU cycles.
End-Term: 5-layer Silero VAD segmentation + local Whisper Large-v3-Turbo + acoustic speaker diarization clustering.</a:t>
            </a:r>
          </a:p>
          <a:p>
            <a:pPr>
              <a:spcAft>
                <a:spcPts val="1000"/>
              </a:spcAft>
              <a:defRPr sz="1100">
                <a:latin typeface="Calibri"/>
              </a:defRPr>
            </a:pPr>
            <a:r>
              <a:rPr b="1">
                <a:solidFill>
                  <a:srgbClr val="0F172A"/>
                </a:solidFill>
              </a:rPr>
              <a:t>• Phase 4: Persistence &amp; Storage Evolution: </a:t>
            </a:r>
            <a:r>
              <a:rPr>
                <a:solidFill>
                  <a:srgbClr val="1E293B"/>
                </a:solidFill>
              </a:rPr>
              <a:t>Mid-Term: Direct multi-threaded SQLite connections prone to SQLITE_BUSY database locks and unencrypted disk storage.
End-Term: Single-Writer Actor queue in WAL mode + FTS5 BM25 search + DESKVAULT1 ChaCha20-Poly1305 streaming encryption.</a:t>
            </a:r>
          </a:p>
          <a:p>
            <a:pPr>
              <a:spcAft>
                <a:spcPts val="1000"/>
              </a:spcAft>
              <a:defRPr sz="1100">
                <a:latin typeface="Calibri"/>
              </a:defRPr>
            </a:pPr>
            <a:r>
              <a:rPr b="1">
                <a:solidFill>
                  <a:srgbClr val="0F172A"/>
                </a:solidFill>
              </a:rPr>
              <a:t>• Phase 5: Agent Extensibility Evolution: </a:t>
            </a:r>
            <a:r>
              <a:rPr>
                <a:solidFill>
                  <a:srgbClr val="1E293B"/>
                </a:solidFill>
              </a:rPr>
              <a:t>Mid-Term: Basic internal keyword search accessible only through desktop UI.
End-Term: Full Model Context Protocol (MCP) server + autonomous scheduled Markdown Pipes with token sandboxing.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Experimental Benchmarks &amp; Performance Evaluation</a:t>
            </a:r>
          </a:p>
          <a:p>
            <a:pPr>
              <a:spcBef>
                <a:spcPts val="300"/>
              </a:spcBef>
              <a:defRPr sz="1200" i="1">
                <a:solidFill>
                  <a:srgbClr val="64748B"/>
                </a:solidFill>
                <a:latin typeface="Calibri"/>
              </a:defRPr>
            </a:pPr>
            <a:r>
              <a:t>Empirical Profiling Across 8-Hour Continuous Workloads on Intel Core i7 &amp; Apple M2</a:t>
            </a:r>
          </a:p>
        </p:txBody>
      </p:sp>
      <p:graphicFrame>
        <p:nvGraphicFramePr>
          <p:cNvPr id="3" name="Table 2"/>
          <p:cNvGraphicFramePr>
            <a:graphicFrameLocks noGrp="1"/>
          </p:cNvGraphicFramePr>
          <p:nvPr/>
        </p:nvGraphicFramePr>
        <p:xfrm>
          <a:off x="731520" y="1645920"/>
          <a:ext cx="10728655" cy="2743200"/>
        </p:xfrm>
        <a:graphic>
          <a:graphicData uri="http://schemas.openxmlformats.org/drawingml/2006/table">
            <a:tbl>
              <a:tblPr firstRow="1" bandRow="1">
                <a:tableStyleId>{5C22544A-7EE6-4342-B048-85BDC9FD1C3A}</a:tableStyleId>
              </a:tblPr>
              <a:tblGrid>
                <a:gridCol w="2926080"/>
                <a:gridCol w="1645920"/>
                <a:gridCol w="2011680"/>
                <a:gridCol w="2011680"/>
                <a:gridCol w="2133295"/>
              </a:tblGrid>
              <a:tr h="548640">
                <a:tc>
                  <a:txBody>
                    <a:bodyPr/>
                    <a:lstStyle/>
                    <a:p>
                      <a:pPr algn="l">
                        <a:defRPr sz="1000" b="1">
                          <a:solidFill>
                            <a:srgbClr val="FFFFFF"/>
                          </a:solidFill>
                          <a:latin typeface="Calibri"/>
                        </a:defRPr>
                      </a:pPr>
                      <a:r>
                        <a:t>Operational Workload State</a:t>
                      </a:r>
                    </a:p>
                  </a:txBody>
                  <a:tcPr anchor="ctr">
                    <a:solidFill>
                      <a:srgbClr val="1E293B"/>
                    </a:solidFill>
                  </a:tcPr>
                </a:tc>
                <a:tc>
                  <a:txBody>
                    <a:bodyPr/>
                    <a:lstStyle/>
                    <a:p>
                      <a:pPr algn="l">
                        <a:defRPr sz="1000" b="1">
                          <a:solidFill>
                            <a:srgbClr val="FFFFFF"/>
                          </a:solidFill>
                          <a:latin typeface="Calibri"/>
                        </a:defRPr>
                      </a:pPr>
                      <a:r>
                        <a:t>CPU Usage (%)</a:t>
                      </a:r>
                    </a:p>
                  </a:txBody>
                  <a:tcPr anchor="ctr">
                    <a:solidFill>
                      <a:srgbClr val="1E293B"/>
                    </a:solidFill>
                  </a:tcPr>
                </a:tc>
                <a:tc>
                  <a:txBody>
                    <a:bodyPr/>
                    <a:lstStyle/>
                    <a:p>
                      <a:pPr algn="l">
                        <a:defRPr sz="1000" b="1">
                          <a:solidFill>
                            <a:srgbClr val="FFFFFF"/>
                          </a:solidFill>
                          <a:latin typeface="Calibri"/>
                        </a:defRPr>
                      </a:pPr>
                      <a:r>
                        <a:t>RAM Footprint</a:t>
                      </a:r>
                    </a:p>
                  </a:txBody>
                  <a:tcPr anchor="ctr">
                    <a:solidFill>
                      <a:srgbClr val="1E293B"/>
                    </a:solidFill>
                  </a:tcPr>
                </a:tc>
                <a:tc>
                  <a:txBody>
                    <a:bodyPr/>
                    <a:lstStyle/>
                    <a:p>
                      <a:pPr algn="l">
                        <a:defRPr sz="1000" b="1">
                          <a:solidFill>
                            <a:srgbClr val="FFFFFF"/>
                          </a:solidFill>
                          <a:latin typeface="Calibri"/>
                        </a:defRPr>
                      </a:pPr>
                      <a:r>
                        <a:t>Disk Write Rate</a:t>
                      </a:r>
                    </a:p>
                  </a:txBody>
                  <a:tcPr anchor="ctr">
                    <a:solidFill>
                      <a:srgbClr val="1E293B"/>
                    </a:solidFill>
                  </a:tcPr>
                </a:tc>
                <a:tc>
                  <a:txBody>
                    <a:bodyPr/>
                    <a:lstStyle/>
                    <a:p>
                      <a:pPr algn="l">
                        <a:defRPr sz="1000" b="1">
                          <a:solidFill>
                            <a:srgbClr val="FFFFFF"/>
                          </a:solidFill>
                          <a:latin typeface="Calibri"/>
                        </a:defRPr>
                      </a:pPr>
                      <a:r>
                        <a:t>Thermal Impact</a:t>
                      </a:r>
                    </a:p>
                  </a:txBody>
                  <a:tcPr anchor="ctr">
                    <a:solidFill>
                      <a:srgbClr val="1E293B"/>
                    </a:solidFill>
                  </a:tcPr>
                </a:tc>
              </a:tr>
              <a:tr h="548640">
                <a:tc>
                  <a:txBody>
                    <a:bodyPr/>
                    <a:lstStyle/>
                    <a:p>
                      <a:pPr algn="l">
                        <a:defRPr sz="950" b="1">
                          <a:solidFill>
                            <a:srgbClr val="1E293B"/>
                          </a:solidFill>
                          <a:latin typeface="Calibri"/>
                        </a:defRPr>
                      </a:pPr>
                      <a:r>
                        <a:t>Idle (Screen static, room silence)</a:t>
                      </a:r>
                    </a:p>
                  </a:txBody>
                  <a:tcPr anchor="ctr">
                    <a:solidFill>
                      <a:srgbClr val="F8FAFC"/>
                    </a:solidFill>
                  </a:tcPr>
                </a:tc>
                <a:tc>
                  <a:txBody>
                    <a:bodyPr/>
                    <a:lstStyle/>
                    <a:p>
                      <a:pPr algn="l">
                        <a:defRPr sz="950" b="0">
                          <a:solidFill>
                            <a:srgbClr val="1E293B"/>
                          </a:solidFill>
                          <a:latin typeface="Calibri"/>
                        </a:defRPr>
                      </a:pPr>
                      <a:r>
                        <a:t>0.8% - 1.5%</a:t>
                      </a:r>
                    </a:p>
                  </a:txBody>
                  <a:tcPr anchor="ctr">
                    <a:solidFill>
                      <a:srgbClr val="F8FAFC"/>
                    </a:solidFill>
                  </a:tcPr>
                </a:tc>
                <a:tc>
                  <a:txBody>
                    <a:bodyPr/>
                    <a:lstStyle/>
                    <a:p>
                      <a:pPr algn="l">
                        <a:defRPr sz="950" b="0">
                          <a:solidFill>
                            <a:srgbClr val="1E293B"/>
                          </a:solidFill>
                          <a:latin typeface="Calibri"/>
                        </a:defRPr>
                      </a:pPr>
                      <a:r>
                        <a:t>480 MB</a:t>
                      </a:r>
                    </a:p>
                  </a:txBody>
                  <a:tcPr anchor="ctr">
                    <a:solidFill>
                      <a:srgbClr val="F8FAFC"/>
                    </a:solidFill>
                  </a:tcPr>
                </a:tc>
                <a:tc>
                  <a:txBody>
                    <a:bodyPr/>
                    <a:lstStyle/>
                    <a:p>
                      <a:pPr algn="l">
                        <a:defRPr sz="950" b="0">
                          <a:solidFill>
                            <a:srgbClr val="1E293B"/>
                          </a:solidFill>
                          <a:latin typeface="Calibri"/>
                        </a:defRPr>
                      </a:pPr>
                      <a:r>
                        <a:t>&lt; 2 MB / hour</a:t>
                      </a:r>
                    </a:p>
                  </a:txBody>
                  <a:tcPr anchor="ctr">
                    <a:solidFill>
                      <a:srgbClr val="F8FAFC"/>
                    </a:solidFill>
                  </a:tcPr>
                </a:tc>
                <a:tc>
                  <a:txBody>
                    <a:bodyPr/>
                    <a:lstStyle/>
                    <a:p>
                      <a:pPr algn="l">
                        <a:defRPr sz="950" b="0">
                          <a:solidFill>
                            <a:srgbClr val="1E293B"/>
                          </a:solidFill>
                          <a:latin typeface="Calibri"/>
                        </a:defRPr>
                      </a:pPr>
                      <a:r>
                        <a:t>Ambient / Negligible</a:t>
                      </a:r>
                    </a:p>
                  </a:txBody>
                  <a:tcPr anchor="ctr">
                    <a:solidFill>
                      <a:srgbClr val="F8FAFC"/>
                    </a:solidFill>
                  </a:tcPr>
                </a:tc>
              </a:tr>
              <a:tr h="548640">
                <a:tc>
                  <a:txBody>
                    <a:bodyPr/>
                    <a:lstStyle/>
                    <a:p>
                      <a:pPr algn="l">
                        <a:defRPr sz="950" b="1">
                          <a:solidFill>
                            <a:srgbClr val="1E293B"/>
                          </a:solidFill>
                          <a:latin typeface="Calibri"/>
                        </a:defRPr>
                      </a:pPr>
                      <a:r>
                        <a:t>Active Web Browsing &amp; Code Editing</a:t>
                      </a:r>
                    </a:p>
                  </a:txBody>
                  <a:tcPr anchor="ctr">
                    <a:solidFill>
                      <a:srgbClr val="FFFFFF"/>
                    </a:solidFill>
                  </a:tcPr>
                </a:tc>
                <a:tc>
                  <a:txBody>
                    <a:bodyPr/>
                    <a:lstStyle/>
                    <a:p>
                      <a:pPr algn="l">
                        <a:defRPr sz="950" b="0">
                          <a:solidFill>
                            <a:srgbClr val="1E293B"/>
                          </a:solidFill>
                          <a:latin typeface="Calibri"/>
                        </a:defRPr>
                      </a:pPr>
                      <a:r>
                        <a:t>3.2% - 5.8%</a:t>
                      </a:r>
                    </a:p>
                  </a:txBody>
                  <a:tcPr anchor="ctr">
                    <a:solidFill>
                      <a:srgbClr val="FFFFFF"/>
                    </a:solidFill>
                  </a:tcPr>
                </a:tc>
                <a:tc>
                  <a:txBody>
                    <a:bodyPr/>
                    <a:lstStyle/>
                    <a:p>
                      <a:pPr algn="l">
                        <a:defRPr sz="950" b="0">
                          <a:solidFill>
                            <a:srgbClr val="1E293B"/>
                          </a:solidFill>
                          <a:latin typeface="Calibri"/>
                        </a:defRPr>
                      </a:pPr>
                      <a:r>
                        <a:t>720 MB</a:t>
                      </a:r>
                    </a:p>
                  </a:txBody>
                  <a:tcPr anchor="ctr">
                    <a:solidFill>
                      <a:srgbClr val="FFFFFF"/>
                    </a:solidFill>
                  </a:tcPr>
                </a:tc>
                <a:tc>
                  <a:txBody>
                    <a:bodyPr/>
                    <a:lstStyle/>
                    <a:p>
                      <a:pPr algn="l">
                        <a:defRPr sz="950" b="0">
                          <a:solidFill>
                            <a:srgbClr val="1E293B"/>
                          </a:solidFill>
                          <a:latin typeface="Calibri"/>
                        </a:defRPr>
                      </a:pPr>
                      <a:r>
                        <a:t>18 MB / hour</a:t>
                      </a:r>
                    </a:p>
                  </a:txBody>
                  <a:tcPr anchor="ctr">
                    <a:solidFill>
                      <a:srgbClr val="FFFFFF"/>
                    </a:solidFill>
                  </a:tcPr>
                </a:tc>
                <a:tc>
                  <a:txBody>
                    <a:bodyPr/>
                    <a:lstStyle/>
                    <a:p>
                      <a:pPr algn="l">
                        <a:defRPr sz="950" b="0">
                          <a:solidFill>
                            <a:srgbClr val="1E293B"/>
                          </a:solidFill>
                          <a:latin typeface="Calibri"/>
                        </a:defRPr>
                      </a:pPr>
                      <a:r>
                        <a:t>Nominal (+0.5°C)</a:t>
                      </a:r>
                    </a:p>
                  </a:txBody>
                  <a:tcPr anchor="ctr">
                    <a:solidFill>
                      <a:srgbClr val="FFFFFF"/>
                    </a:solidFill>
                  </a:tcPr>
                </a:tc>
              </a:tr>
              <a:tr h="548640">
                <a:tc>
                  <a:txBody>
                    <a:bodyPr/>
                    <a:lstStyle/>
                    <a:p>
                      <a:pPr algn="l">
                        <a:defRPr sz="950" b="1">
                          <a:solidFill>
                            <a:srgbClr val="1E293B"/>
                          </a:solidFill>
                          <a:latin typeface="Calibri"/>
                        </a:defRPr>
                      </a:pPr>
                      <a:r>
                        <a:t>Video Conference Call (WASAPI + VAD)</a:t>
                      </a:r>
                    </a:p>
                  </a:txBody>
                  <a:tcPr anchor="ctr">
                    <a:solidFill>
                      <a:srgbClr val="F8FAFC"/>
                    </a:solidFill>
                  </a:tcPr>
                </a:tc>
                <a:tc>
                  <a:txBody>
                    <a:bodyPr/>
                    <a:lstStyle/>
                    <a:p>
                      <a:pPr algn="l">
                        <a:defRPr sz="950" b="0">
                          <a:solidFill>
                            <a:srgbClr val="1E293B"/>
                          </a:solidFill>
                          <a:latin typeface="Calibri"/>
                        </a:defRPr>
                      </a:pPr>
                      <a:r>
                        <a:t>6.5% - 9.4%</a:t>
                      </a:r>
                    </a:p>
                  </a:txBody>
                  <a:tcPr anchor="ctr">
                    <a:solidFill>
                      <a:srgbClr val="F8FAFC"/>
                    </a:solidFill>
                  </a:tcPr>
                </a:tc>
                <a:tc>
                  <a:txBody>
                    <a:bodyPr/>
                    <a:lstStyle/>
                    <a:p>
                      <a:pPr algn="l">
                        <a:defRPr sz="950" b="0">
                          <a:solidFill>
                            <a:srgbClr val="1E293B"/>
                          </a:solidFill>
                          <a:latin typeface="Calibri"/>
                        </a:defRPr>
                      </a:pPr>
                      <a:r>
                        <a:t>1,150 MB</a:t>
                      </a:r>
                    </a:p>
                  </a:txBody>
                  <a:tcPr anchor="ctr">
                    <a:solidFill>
                      <a:srgbClr val="F8FAFC"/>
                    </a:solidFill>
                  </a:tcPr>
                </a:tc>
                <a:tc>
                  <a:txBody>
                    <a:bodyPr/>
                    <a:lstStyle/>
                    <a:p>
                      <a:pPr algn="l">
                        <a:defRPr sz="950" b="0">
                          <a:solidFill>
                            <a:srgbClr val="1E293B"/>
                          </a:solidFill>
                          <a:latin typeface="Calibri"/>
                        </a:defRPr>
                      </a:pPr>
                      <a:r>
                        <a:t>45 MB / hour</a:t>
                      </a:r>
                    </a:p>
                  </a:txBody>
                  <a:tcPr anchor="ctr">
                    <a:solidFill>
                      <a:srgbClr val="F8FAFC"/>
                    </a:solidFill>
                  </a:tcPr>
                </a:tc>
                <a:tc>
                  <a:txBody>
                    <a:bodyPr/>
                    <a:lstStyle/>
                    <a:p>
                      <a:pPr algn="l">
                        <a:defRPr sz="950" b="0">
                          <a:solidFill>
                            <a:srgbClr val="1E293B"/>
                          </a:solidFill>
                          <a:latin typeface="Calibri"/>
                        </a:defRPr>
                      </a:pPr>
                      <a:r>
                        <a:t>Mild (+1.5°C)</a:t>
                      </a:r>
                    </a:p>
                  </a:txBody>
                  <a:tcPr anchor="ctr">
                    <a:solidFill>
                      <a:srgbClr val="F8FAFC"/>
                    </a:solidFill>
                  </a:tcPr>
                </a:tc>
              </a:tr>
              <a:tr h="548640">
                <a:tc>
                  <a:txBody>
                    <a:bodyPr/>
                    <a:lstStyle/>
                    <a:p>
                      <a:pPr algn="l">
                        <a:defRPr sz="950" b="1">
                          <a:solidFill>
                            <a:srgbClr val="1E293B"/>
                          </a:solidFill>
                          <a:latin typeface="Calibri"/>
                        </a:defRPr>
                      </a:pPr>
                      <a:r>
                        <a:t>Peak Whisper Transcription (Local Batch)</a:t>
                      </a:r>
                    </a:p>
                  </a:txBody>
                  <a:tcPr anchor="ctr">
                    <a:solidFill>
                      <a:srgbClr val="FFFFFF"/>
                    </a:solidFill>
                  </a:tcPr>
                </a:tc>
                <a:tc>
                  <a:txBody>
                    <a:bodyPr/>
                    <a:lstStyle/>
                    <a:p>
                      <a:pPr algn="l">
                        <a:defRPr sz="950" b="0">
                          <a:solidFill>
                            <a:srgbClr val="1E293B"/>
                          </a:solidFill>
                          <a:latin typeface="Calibri"/>
                        </a:defRPr>
                      </a:pPr>
                      <a:r>
                        <a:t>18.2% (burst)</a:t>
                      </a:r>
                    </a:p>
                  </a:txBody>
                  <a:tcPr anchor="ctr">
                    <a:solidFill>
                      <a:srgbClr val="FFFFFF"/>
                    </a:solidFill>
                  </a:tcPr>
                </a:tc>
                <a:tc>
                  <a:txBody>
                    <a:bodyPr/>
                    <a:lstStyle/>
                    <a:p>
                      <a:pPr algn="l">
                        <a:defRPr sz="950" b="0">
                          <a:solidFill>
                            <a:srgbClr val="1E293B"/>
                          </a:solidFill>
                          <a:latin typeface="Calibri"/>
                        </a:defRPr>
                      </a:pPr>
                      <a:r>
                        <a:t>2,200 MB</a:t>
                      </a:r>
                    </a:p>
                  </a:txBody>
                  <a:tcPr anchor="ctr">
                    <a:solidFill>
                      <a:srgbClr val="FFFFFF"/>
                    </a:solidFill>
                  </a:tcPr>
                </a:tc>
                <a:tc>
                  <a:txBody>
                    <a:bodyPr/>
                    <a:lstStyle/>
                    <a:p>
                      <a:pPr algn="l">
                        <a:defRPr sz="950" b="0">
                          <a:solidFill>
                            <a:srgbClr val="1E293B"/>
                          </a:solidFill>
                          <a:latin typeface="Calibri"/>
                        </a:defRPr>
                      </a:pPr>
                      <a:r>
                        <a:t>85 MB / hour</a:t>
                      </a:r>
                    </a:p>
                  </a:txBody>
                  <a:tcPr anchor="ctr">
                    <a:solidFill>
                      <a:srgbClr val="FFFFFF"/>
                    </a:solidFill>
                  </a:tcPr>
                </a:tc>
                <a:tc>
                  <a:txBody>
                    <a:bodyPr/>
                    <a:lstStyle/>
                    <a:p>
                      <a:pPr algn="l">
                        <a:defRPr sz="950" b="0">
                          <a:solidFill>
                            <a:srgbClr val="1E293B"/>
                          </a:solidFill>
                          <a:latin typeface="Calibri"/>
                        </a:defRPr>
                      </a:pPr>
                      <a:r>
                        <a:t>Transient Fan Ramp</a:t>
                      </a:r>
                    </a:p>
                  </a:txBody>
                  <a:tcPr anchor="ctr">
                    <a:solidFill>
                      <a:srgbClr val="FFFFFF"/>
                    </a:solidFill>
                  </a:tcPr>
                </a:tc>
              </a:tr>
            </a:tbl>
          </a:graphicData>
        </a:graphic>
      </p:graphicFrame>
      <p:sp>
        <p:nvSpPr>
          <p:cNvPr id="4" name="TextBox 3"/>
          <p:cNvSpPr txBox="1"/>
          <p:nvPr/>
        </p:nvSpPr>
        <p:spPr>
          <a:xfrm>
            <a:off x="731520" y="4663440"/>
            <a:ext cx="10728655" cy="1828800"/>
          </a:xfrm>
          <a:prstGeom prst="rect">
            <a:avLst/>
          </a:prstGeom>
          <a:noFill/>
        </p:spPr>
        <p:txBody>
          <a:bodyPr wrap="square" lIns="0" tIns="0" rIns="0" bIns="0">
            <a:spAutoFit/>
          </a:bodyPr>
          <a:lstStyle/>
          <a:p>
            <a:pPr>
              <a:spcAft>
                <a:spcPts val="800"/>
              </a:spcAft>
              <a:defRPr sz="1150">
                <a:latin typeface="Calibri"/>
              </a:defRPr>
            </a:pPr>
            <a:r>
              <a:rPr b="1">
                <a:solidFill>
                  <a:srgbClr val="0F172A"/>
                </a:solidFill>
              </a:rPr>
              <a:t>• Query Retrieval Latency (1.2M Rows): </a:t>
            </a:r>
            <a:r>
              <a:rPr>
                <a:solidFill>
                  <a:srgbClr val="1E293B"/>
                </a:solidFill>
              </a:rPr>
              <a:t>Exact B-Tree match: 4.2 ms (p50) / 12.8 ms (p95) | FTS5 BM25 keyword search: 14.5 ms (p50) / 38.2 ms (p95) | Dense vector cosine similarity: 42.0 ms (p50) / 89.5 ms (p95).</a:t>
            </a:r>
          </a:p>
          <a:p>
            <a:pPr>
              <a:spcAft>
                <a:spcPts val="800"/>
              </a:spcAft>
              <a:defRPr sz="1150">
                <a:latin typeface="Calibri"/>
              </a:defRPr>
            </a:pPr>
            <a:r>
              <a:rPr b="1">
                <a:solidFill>
                  <a:srgbClr val="0F172A"/>
                </a:solidFill>
              </a:rPr>
              <a:t>• Validation Verdict: </a:t>
            </a:r>
            <a:r>
              <a:rPr>
                <a:solidFill>
                  <a:srgbClr val="1E293B"/>
                </a:solidFill>
              </a:rPr>
              <a:t>Desk-AI satisfies all non-functional requirements: continuous 24/7 background operation consumes under 6% average CPU, less than 2 GB RAM, and under 15 GB of compressed disk storage per month.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Why Commercial Solutions Fail for Desktop Context</a:t>
            </a:r>
          </a:p>
          <a:p>
            <a:pPr>
              <a:spcBef>
                <a:spcPts val="300"/>
              </a:spcBef>
              <a:defRPr sz="1200" i="1">
                <a:solidFill>
                  <a:srgbClr val="64748B"/>
                </a:solidFill>
                <a:latin typeface="Calibri"/>
              </a:defRPr>
            </a:pPr>
            <a:r>
              <a:t>Cloud Recorders and Closed Systems Fundamentally Compromise Enterprise Security and Performance</a:t>
            </a:r>
          </a:p>
        </p:txBody>
      </p:sp>
      <p:sp>
        <p:nvSpPr>
          <p:cNvPr id="3" name="Rounded Rectangle 2"/>
          <p:cNvSpPr/>
          <p:nvPr/>
        </p:nvSpPr>
        <p:spPr>
          <a:xfrm>
            <a:off x="731520" y="1645920"/>
            <a:ext cx="5120640" cy="21031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l">
              <a:spcAft>
                <a:spcPts val="600"/>
              </a:spcAft>
              <a:defRPr b="1" sz="1200">
                <a:solidFill>
                  <a:srgbClr val="2563EB"/>
                </a:solidFill>
              </a:defRPr>
            </a:pPr>
            <a:r>
              <a:t>Context Severance &amp; Prompt Fatigue</a:t>
            </a:r>
          </a:p>
          <a:p>
            <a:pPr algn="l">
              <a:defRPr sz="1000">
                <a:solidFill>
                  <a:srgbClr val="1E293B"/>
                </a:solidFill>
              </a:defRPr>
            </a:pPr>
            <a:r>
              <a:t>Standard commercial LLMs cannot observe active desktop state. Users are taxed with taking manual screenshots, copying terminal stack traces, and formatting prompts.</a:t>
            </a:r>
            <a:br/>
            <a:br/>
            <a:r>
              <a:t>Desk-AI Advantage: Provides continuous ambient episodic memory directly to AI coding agents via standard MCP protocols.</a:t>
            </a:r>
          </a:p>
        </p:txBody>
      </p:sp>
      <p:sp>
        <p:nvSpPr>
          <p:cNvPr id="4" name="Rounded Rectangle 3"/>
          <p:cNvSpPr/>
          <p:nvPr/>
        </p:nvSpPr>
        <p:spPr>
          <a:xfrm>
            <a:off x="6339535" y="1645920"/>
            <a:ext cx="5120640" cy="21031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l">
              <a:spcAft>
                <a:spcPts val="600"/>
              </a:spcAft>
              <a:defRPr b="1" sz="1200">
                <a:solidFill>
                  <a:srgbClr val="2563EB"/>
                </a:solidFill>
              </a:defRPr>
            </a:pPr>
            <a:r>
              <a:t>Cloud Exfiltration &amp; Surveillance Risk</a:t>
            </a:r>
          </a:p>
          <a:p>
            <a:pPr algn="l">
              <a:defRPr sz="1000">
                <a:solidFill>
                  <a:srgbClr val="1E293B"/>
                </a:solidFill>
              </a:defRPr>
            </a:pPr>
            <a:r>
              <a:t>Commercial meeting and screen recorders (Otter, Granola, Recall) upload audio and unredacted screens to external SaaS servers, violating GDPR, HIPAA, and IP secrecy.</a:t>
            </a:r>
            <a:br/>
            <a:br/>
            <a:r>
              <a:t>Desk-AI Advantage: Operates 100% on-device with zero telemetry and chunked DESKVAULT1 ChaCha20-Poly1305 encryption.</a:t>
            </a:r>
          </a:p>
        </p:txBody>
      </p:sp>
      <p:sp>
        <p:nvSpPr>
          <p:cNvPr id="5" name="Rounded Rectangle 4"/>
          <p:cNvSpPr/>
          <p:nvPr/>
        </p:nvSpPr>
        <p:spPr>
          <a:xfrm>
            <a:off x="731520" y="4114800"/>
            <a:ext cx="5120640" cy="21031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l">
              <a:spcAft>
                <a:spcPts val="600"/>
              </a:spcAft>
              <a:defRPr b="1" sz="1200">
                <a:solidFill>
                  <a:srgbClr val="2563EB"/>
                </a:solidFill>
              </a:defRPr>
            </a:pPr>
            <a:r>
              <a:t>Resource Bloat &amp; Severe Battery Drain</a:t>
            </a:r>
          </a:p>
          <a:p>
            <a:pPr algn="l">
              <a:defRPr sz="1000">
                <a:solidFill>
                  <a:srgbClr val="1E293B"/>
                </a:solidFill>
              </a:defRPr>
            </a:pPr>
            <a:r>
              <a:t>Brute-force fixed-framerate screen video capture drains mobile laptop batteries within 2 hours, triggers thermal throttling, and fills &gt;100 GB of storage monthly.</a:t>
            </a:r>
            <a:br/>
            <a:br/>
            <a:r>
              <a:t>Desk-AI Advantage: Event-driven dHash filtering limits CPU load to &lt;5% and monthly disk growth to &lt;15 GB.</a:t>
            </a:r>
          </a:p>
        </p:txBody>
      </p:sp>
      <p:sp>
        <p:nvSpPr>
          <p:cNvPr id="6" name="Rounded Rectangle 5"/>
          <p:cNvSpPr/>
          <p:nvPr/>
        </p:nvSpPr>
        <p:spPr>
          <a:xfrm>
            <a:off x="6339535" y="4114800"/>
            <a:ext cx="5120640" cy="21031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l">
              <a:spcAft>
                <a:spcPts val="600"/>
              </a:spcAft>
              <a:defRPr b="1" sz="1200">
                <a:solidFill>
                  <a:srgbClr val="2563EB"/>
                </a:solidFill>
              </a:defRPr>
            </a:pPr>
            <a:r>
              <a:t>Proprietary Lock-in &amp; Closed Silos</a:t>
            </a:r>
          </a:p>
          <a:p>
            <a:pPr algn="l">
              <a:defRPr sz="1000">
                <a:solidFill>
                  <a:srgbClr val="1E293B"/>
                </a:solidFill>
              </a:defRPr>
            </a:pPr>
            <a:r>
              <a:t>Existing solutions trap activity data in proprietary, closed-source binary formats, preventing external tooling integration or custom automation pipelines.</a:t>
            </a:r>
            <a:br/>
            <a:br/>
            <a:r>
              <a:t>Desk-AI Advantage: Built on standard SQLite WAL, open FTS5 virtual tables, and autonomous Markdown Pipes.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Verification, Testing &amp; Quality Assurance</a:t>
            </a:r>
          </a:p>
          <a:p>
            <a:pPr>
              <a:spcBef>
                <a:spcPts val="300"/>
              </a:spcBef>
              <a:defRPr sz="1200" i="1">
                <a:solidFill>
                  <a:srgbClr val="64748B"/>
                </a:solidFill>
                <a:latin typeface="Calibri"/>
              </a:defRPr>
            </a:pPr>
            <a:r>
              <a:t>Rigorous Systems Validation for Continuous 24/7 Background Daemon Reliability</a:t>
            </a:r>
          </a:p>
        </p:txBody>
      </p:sp>
      <p:graphicFrame>
        <p:nvGraphicFramePr>
          <p:cNvPr id="3" name="Table 2"/>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1097280"/>
                <a:gridCol w="1645920"/>
                <a:gridCol w="3474720"/>
                <a:gridCol w="3413455"/>
                <a:gridCol w="1097280"/>
              </a:tblGrid>
              <a:tr h="548640">
                <a:tc>
                  <a:txBody>
                    <a:bodyPr/>
                    <a:lstStyle/>
                    <a:p>
                      <a:pPr algn="l">
                        <a:defRPr sz="1000" b="1">
                          <a:solidFill>
                            <a:srgbClr val="FFFFFF"/>
                          </a:solidFill>
                          <a:latin typeface="Calibri"/>
                        </a:defRPr>
                      </a:pPr>
                      <a:r>
                        <a:t>Test ID</a:t>
                      </a:r>
                    </a:p>
                  </a:txBody>
                  <a:tcPr anchor="ctr">
                    <a:solidFill>
                      <a:srgbClr val="1E293B"/>
                    </a:solidFill>
                  </a:tcPr>
                </a:tc>
                <a:tc>
                  <a:txBody>
                    <a:bodyPr/>
                    <a:lstStyle/>
                    <a:p>
                      <a:pPr algn="l">
                        <a:defRPr sz="1000" b="1">
                          <a:solidFill>
                            <a:srgbClr val="FFFFFF"/>
                          </a:solidFill>
                          <a:latin typeface="Calibri"/>
                        </a:defRPr>
                      </a:pPr>
                      <a:r>
                        <a:t>Subsystem</a:t>
                      </a:r>
                    </a:p>
                  </a:txBody>
                  <a:tcPr anchor="ctr">
                    <a:solidFill>
                      <a:srgbClr val="1E293B"/>
                    </a:solidFill>
                  </a:tcPr>
                </a:tc>
                <a:tc>
                  <a:txBody>
                    <a:bodyPr/>
                    <a:lstStyle/>
                    <a:p>
                      <a:pPr algn="l">
                        <a:defRPr sz="1000" b="1">
                          <a:solidFill>
                            <a:srgbClr val="FFFFFF"/>
                          </a:solidFill>
                          <a:latin typeface="Calibri"/>
                        </a:defRPr>
                      </a:pPr>
                      <a:r>
                        <a:t>Input Test Stimulus</a:t>
                      </a:r>
                    </a:p>
                  </a:txBody>
                  <a:tcPr anchor="ctr">
                    <a:solidFill>
                      <a:srgbClr val="1E293B"/>
                    </a:solidFill>
                  </a:tcPr>
                </a:tc>
                <a:tc>
                  <a:txBody>
                    <a:bodyPr/>
                    <a:lstStyle/>
                    <a:p>
                      <a:pPr algn="l">
                        <a:defRPr sz="1000" b="1">
                          <a:solidFill>
                            <a:srgbClr val="FFFFFF"/>
                          </a:solidFill>
                          <a:latin typeface="Calibri"/>
                        </a:defRPr>
                      </a:pPr>
                      <a:r>
                        <a:t>Expected Specification Behavior</a:t>
                      </a:r>
                    </a:p>
                  </a:txBody>
                  <a:tcPr anchor="ctr">
                    <a:solidFill>
                      <a:srgbClr val="1E293B"/>
                    </a:solidFill>
                  </a:tcPr>
                </a:tc>
                <a:tc>
                  <a:txBody>
                    <a:bodyPr/>
                    <a:lstStyle/>
                    <a:p>
                      <a:pPr algn="l">
                        <a:defRPr sz="1000" b="1">
                          <a:solidFill>
                            <a:srgbClr val="FFFFFF"/>
                          </a:solidFill>
                          <a:latin typeface="Calibri"/>
                        </a:defRPr>
                      </a:pPr>
                      <a:r>
                        <a:t>Status</a:t>
                      </a:r>
                    </a:p>
                  </a:txBody>
                  <a:tcPr anchor="ctr">
                    <a:solidFill>
                      <a:srgbClr val="1E293B"/>
                    </a:solidFill>
                  </a:tcPr>
                </a:tc>
              </a:tr>
              <a:tr h="548640">
                <a:tc>
                  <a:txBody>
                    <a:bodyPr/>
                    <a:lstStyle/>
                    <a:p>
                      <a:pPr algn="ctr">
                        <a:defRPr sz="950" b="1">
                          <a:solidFill>
                            <a:srgbClr val="0F172A"/>
                          </a:solidFill>
                          <a:latin typeface="Calibri"/>
                        </a:defRPr>
                      </a:pPr>
                      <a:r>
                        <a:t>TC-01</a:t>
                      </a:r>
                    </a:p>
                  </a:txBody>
                  <a:tcPr anchor="ctr">
                    <a:solidFill>
                      <a:srgbClr val="F8FAFC"/>
                    </a:solidFill>
                  </a:tcPr>
                </a:tc>
                <a:tc>
                  <a:txBody>
                    <a:bodyPr/>
                    <a:lstStyle/>
                    <a:p>
                      <a:pPr algn="l">
                        <a:defRPr sz="950" b="0">
                          <a:solidFill>
                            <a:srgbClr val="1E293B"/>
                          </a:solidFill>
                          <a:latin typeface="Calibri"/>
                        </a:defRPr>
                      </a:pPr>
                      <a:r>
                        <a:t>Screen Capture</a:t>
                      </a:r>
                    </a:p>
                  </a:txBody>
                  <a:tcPr anchor="ctr">
                    <a:solidFill>
                      <a:srgbClr val="F8FAFC"/>
                    </a:solidFill>
                  </a:tcPr>
                </a:tc>
                <a:tc>
                  <a:txBody>
                    <a:bodyPr/>
                    <a:lstStyle/>
                    <a:p>
                      <a:pPr algn="l">
                        <a:defRPr sz="950" b="0">
                          <a:solidFill>
                            <a:srgbClr val="1E293B"/>
                          </a:solidFill>
                          <a:latin typeface="Calibri"/>
                        </a:defRPr>
                      </a:pPr>
                      <a:r>
                        <a:t>Static desktop view with 0 user input for 60s</a:t>
                      </a:r>
                    </a:p>
                  </a:txBody>
                  <a:tcPr anchor="ctr">
                    <a:solidFill>
                      <a:srgbClr val="F8FAFC"/>
                    </a:solidFill>
                  </a:tcPr>
                </a:tc>
                <a:tc>
                  <a:txBody>
                    <a:bodyPr/>
                    <a:lstStyle/>
                    <a:p>
                      <a:pPr algn="l">
                        <a:defRPr sz="950" b="0">
                          <a:solidFill>
                            <a:srgbClr val="1E293B"/>
                          </a:solidFill>
                          <a:latin typeface="Calibri"/>
                        </a:defRPr>
                      </a:pPr>
                      <a:r>
                        <a:t>dHash matches; 0 redundant frames committed to disk</a:t>
                      </a:r>
                    </a:p>
                  </a:txBody>
                  <a:tcPr anchor="ctr">
                    <a:solidFill>
                      <a:srgbClr val="F8FAFC"/>
                    </a:solidFill>
                  </a:tcPr>
                </a:tc>
                <a:tc>
                  <a:txBody>
                    <a:bodyPr/>
                    <a:lstStyle/>
                    <a:p>
                      <a:pPr algn="ctr">
                        <a:defRPr sz="950" b="1">
                          <a:solidFill>
                            <a:srgbClr val="10B981"/>
                          </a:solidFill>
                          <a:latin typeface="Calibri"/>
                        </a:defRPr>
                      </a:pPr>
                      <a:r>
                        <a:t>PASSED</a:t>
                      </a:r>
                    </a:p>
                  </a:txBody>
                  <a:tcPr anchor="ctr">
                    <a:solidFill>
                      <a:srgbClr val="F8FAFC"/>
                    </a:solidFill>
                  </a:tcPr>
                </a:tc>
              </a:tr>
              <a:tr h="548640">
                <a:tc>
                  <a:txBody>
                    <a:bodyPr/>
                    <a:lstStyle/>
                    <a:p>
                      <a:pPr algn="ctr">
                        <a:defRPr sz="950" b="1">
                          <a:solidFill>
                            <a:srgbClr val="0F172A"/>
                          </a:solidFill>
                          <a:latin typeface="Calibri"/>
                        </a:defRPr>
                      </a:pPr>
                      <a:r>
                        <a:t>TC-02</a:t>
                      </a:r>
                    </a:p>
                  </a:txBody>
                  <a:tcPr anchor="ctr">
                    <a:solidFill>
                      <a:srgbClr val="FFFFFF"/>
                    </a:solidFill>
                  </a:tcPr>
                </a:tc>
                <a:tc>
                  <a:txBody>
                    <a:bodyPr/>
                    <a:lstStyle/>
                    <a:p>
                      <a:pPr algn="l">
                        <a:defRPr sz="950" b="0">
                          <a:solidFill>
                            <a:srgbClr val="1E293B"/>
                          </a:solidFill>
                          <a:latin typeface="Calibri"/>
                        </a:defRPr>
                      </a:pPr>
                      <a:r>
                        <a:t>Accessibility</a:t>
                      </a:r>
                    </a:p>
                  </a:txBody>
                  <a:tcPr anchor="ctr">
                    <a:solidFill>
                      <a:srgbClr val="FFFFFF"/>
                    </a:solidFill>
                  </a:tcPr>
                </a:tc>
                <a:tc>
                  <a:txBody>
                    <a:bodyPr/>
                    <a:lstStyle/>
                    <a:p>
                      <a:pPr algn="l">
                        <a:defRPr sz="950" b="0">
                          <a:solidFill>
                            <a:srgbClr val="1E293B"/>
                          </a:solidFill>
                          <a:latin typeface="Calibri"/>
                        </a:defRPr>
                      </a:pPr>
                      <a:r>
                        <a:t>Browser tab switch from IDE to documentation</a:t>
                      </a:r>
                    </a:p>
                  </a:txBody>
                  <a:tcPr anchor="ctr">
                    <a:solidFill>
                      <a:srgbClr val="FFFFFF"/>
                    </a:solidFill>
                  </a:tcPr>
                </a:tc>
                <a:tc>
                  <a:txBody>
                    <a:bodyPr/>
                    <a:lstStyle/>
                    <a:p>
                      <a:pPr algn="l">
                        <a:defRPr sz="950" b="0">
                          <a:solidFill>
                            <a:srgbClr val="1E293B"/>
                          </a:solidFill>
                          <a:latin typeface="Calibri"/>
                        </a:defRPr>
                      </a:pPr>
                      <a:r>
                        <a:t>UIA tree serializes new URL &amp; title in &lt;30ms</a:t>
                      </a:r>
                    </a:p>
                  </a:txBody>
                  <a:tcPr anchor="ctr">
                    <a:solidFill>
                      <a:srgbClr val="FFFFFF"/>
                    </a:solidFill>
                  </a:tcPr>
                </a:tc>
                <a:tc>
                  <a:txBody>
                    <a:bodyPr/>
                    <a:lstStyle/>
                    <a:p>
                      <a:pPr algn="ctr">
                        <a:defRPr sz="950" b="1">
                          <a:solidFill>
                            <a:srgbClr val="10B981"/>
                          </a:solidFill>
                          <a:latin typeface="Calibri"/>
                        </a:defRPr>
                      </a:pPr>
                      <a:r>
                        <a:t>PASSED</a:t>
                      </a:r>
                    </a:p>
                  </a:txBody>
                  <a:tcPr anchor="ctr">
                    <a:solidFill>
                      <a:srgbClr val="FFFFFF"/>
                    </a:solidFill>
                  </a:tcPr>
                </a:tc>
              </a:tr>
              <a:tr h="548640">
                <a:tc>
                  <a:txBody>
                    <a:bodyPr/>
                    <a:lstStyle/>
                    <a:p>
                      <a:pPr algn="ctr">
                        <a:defRPr sz="950" b="1">
                          <a:solidFill>
                            <a:srgbClr val="0F172A"/>
                          </a:solidFill>
                          <a:latin typeface="Calibri"/>
                        </a:defRPr>
                      </a:pPr>
                      <a:r>
                        <a:t>TC-03</a:t>
                      </a:r>
                    </a:p>
                  </a:txBody>
                  <a:tcPr anchor="ctr">
                    <a:solidFill>
                      <a:srgbClr val="F8FAFC"/>
                    </a:solidFill>
                  </a:tcPr>
                </a:tc>
                <a:tc>
                  <a:txBody>
                    <a:bodyPr/>
                    <a:lstStyle/>
                    <a:p>
                      <a:pPr algn="l">
                        <a:defRPr sz="950" b="0">
                          <a:solidFill>
                            <a:srgbClr val="1E293B"/>
                          </a:solidFill>
                          <a:latin typeface="Calibri"/>
                        </a:defRPr>
                      </a:pPr>
                      <a:r>
                        <a:t>Audio VAD</a:t>
                      </a:r>
                    </a:p>
                  </a:txBody>
                  <a:tcPr anchor="ctr">
                    <a:solidFill>
                      <a:srgbClr val="F8FAFC"/>
                    </a:solidFill>
                  </a:tcPr>
                </a:tc>
                <a:tc>
                  <a:txBody>
                    <a:bodyPr/>
                    <a:lstStyle/>
                    <a:p>
                      <a:pPr algn="l">
                        <a:defRPr sz="950" b="0">
                          <a:solidFill>
                            <a:srgbClr val="1E293B"/>
                          </a:solidFill>
                          <a:latin typeface="Calibri"/>
                        </a:defRPr>
                      </a:pPr>
                      <a:r>
                        <a:t>30-second silent background audio stream</a:t>
                      </a:r>
                    </a:p>
                  </a:txBody>
                  <a:tcPr anchor="ctr">
                    <a:solidFill>
                      <a:srgbClr val="F8FAFC"/>
                    </a:solidFill>
                  </a:tcPr>
                </a:tc>
                <a:tc>
                  <a:txBody>
                    <a:bodyPr/>
                    <a:lstStyle/>
                    <a:p>
                      <a:pPr algn="l">
                        <a:defRPr sz="950" b="0">
                          <a:solidFill>
                            <a:srgbClr val="1E293B"/>
                          </a:solidFill>
                          <a:latin typeface="Calibri"/>
                        </a:defRPr>
                      </a:pPr>
                      <a:r>
                        <a:t>Silero VAD flags prob &lt; 0.2; 0 Whisper STT calls</a:t>
                      </a:r>
                    </a:p>
                  </a:txBody>
                  <a:tcPr anchor="ctr">
                    <a:solidFill>
                      <a:srgbClr val="F8FAFC"/>
                    </a:solidFill>
                  </a:tcPr>
                </a:tc>
                <a:tc>
                  <a:txBody>
                    <a:bodyPr/>
                    <a:lstStyle/>
                    <a:p>
                      <a:pPr algn="ctr">
                        <a:defRPr sz="950" b="1">
                          <a:solidFill>
                            <a:srgbClr val="10B981"/>
                          </a:solidFill>
                          <a:latin typeface="Calibri"/>
                        </a:defRPr>
                      </a:pPr>
                      <a:r>
                        <a:t>PASSED</a:t>
                      </a:r>
                    </a:p>
                  </a:txBody>
                  <a:tcPr anchor="ctr">
                    <a:solidFill>
                      <a:srgbClr val="F8FAFC"/>
                    </a:solidFill>
                  </a:tcPr>
                </a:tc>
              </a:tr>
              <a:tr h="548640">
                <a:tc>
                  <a:txBody>
                    <a:bodyPr/>
                    <a:lstStyle/>
                    <a:p>
                      <a:pPr algn="ctr">
                        <a:defRPr sz="950" b="1">
                          <a:solidFill>
                            <a:srgbClr val="0F172A"/>
                          </a:solidFill>
                          <a:latin typeface="Calibri"/>
                        </a:defRPr>
                      </a:pPr>
                      <a:r>
                        <a:t>TC-04</a:t>
                      </a:r>
                    </a:p>
                  </a:txBody>
                  <a:tcPr anchor="ctr">
                    <a:solidFill>
                      <a:srgbClr val="FFFFFF"/>
                    </a:solidFill>
                  </a:tcPr>
                </a:tc>
                <a:tc>
                  <a:txBody>
                    <a:bodyPr/>
                    <a:lstStyle/>
                    <a:p>
                      <a:pPr algn="l">
                        <a:defRPr sz="950" b="0">
                          <a:solidFill>
                            <a:srgbClr val="1E293B"/>
                          </a:solidFill>
                          <a:latin typeface="Calibri"/>
                        </a:defRPr>
                      </a:pPr>
                      <a:r>
                        <a:t>PII Redaction</a:t>
                      </a:r>
                    </a:p>
                  </a:txBody>
                  <a:tcPr anchor="ctr">
                    <a:solidFill>
                      <a:srgbClr val="FFFFFF"/>
                    </a:solidFill>
                  </a:tcPr>
                </a:tc>
                <a:tc>
                  <a:txBody>
                    <a:bodyPr/>
                    <a:lstStyle/>
                    <a:p>
                      <a:pPr algn="l">
                        <a:defRPr sz="950" b="0">
                          <a:solidFill>
                            <a:srgbClr val="1E293B"/>
                          </a:solidFill>
                          <a:latin typeface="Calibri"/>
                        </a:defRPr>
                      </a:pPr>
                      <a:r>
                        <a:t>Display showing mock credit card: 4532 0156 ...</a:t>
                      </a:r>
                    </a:p>
                  </a:txBody>
                  <a:tcPr anchor="ctr">
                    <a:solidFill>
                      <a:srgbClr val="FFFFFF"/>
                    </a:solidFill>
                  </a:tcPr>
                </a:tc>
                <a:tc>
                  <a:txBody>
                    <a:bodyPr/>
                    <a:lstStyle/>
                    <a:p>
                      <a:pPr algn="l">
                        <a:defRPr sz="950" b="0">
                          <a:solidFill>
                            <a:srgbClr val="1E293B"/>
                          </a:solidFill>
                          <a:latin typeface="Calibri"/>
                        </a:defRPr>
                      </a:pPr>
                      <a:r>
                        <a:t>Text pseudonymized; frame bounding box blacked</a:t>
                      </a:r>
                    </a:p>
                  </a:txBody>
                  <a:tcPr anchor="ctr">
                    <a:solidFill>
                      <a:srgbClr val="FFFFFF"/>
                    </a:solidFill>
                  </a:tcPr>
                </a:tc>
                <a:tc>
                  <a:txBody>
                    <a:bodyPr/>
                    <a:lstStyle/>
                    <a:p>
                      <a:pPr algn="ctr">
                        <a:defRPr sz="950" b="1">
                          <a:solidFill>
                            <a:srgbClr val="10B981"/>
                          </a:solidFill>
                          <a:latin typeface="Calibri"/>
                        </a:defRPr>
                      </a:pPr>
                      <a:r>
                        <a:t>PASSED</a:t>
                      </a:r>
                    </a:p>
                  </a:txBody>
                  <a:tcPr anchor="ctr">
                    <a:solidFill>
                      <a:srgbClr val="FFFFFF"/>
                    </a:solidFill>
                  </a:tcPr>
                </a:tc>
              </a:tr>
              <a:tr h="548640">
                <a:tc>
                  <a:txBody>
                    <a:bodyPr/>
                    <a:lstStyle/>
                    <a:p>
                      <a:pPr algn="ctr">
                        <a:defRPr sz="950" b="1">
                          <a:solidFill>
                            <a:srgbClr val="0F172A"/>
                          </a:solidFill>
                          <a:latin typeface="Calibri"/>
                        </a:defRPr>
                      </a:pPr>
                      <a:r>
                        <a:t>TC-05</a:t>
                      </a:r>
                    </a:p>
                  </a:txBody>
                  <a:tcPr anchor="ctr">
                    <a:solidFill>
                      <a:srgbClr val="F8FAFC"/>
                    </a:solidFill>
                  </a:tcPr>
                </a:tc>
                <a:tc>
                  <a:txBody>
                    <a:bodyPr/>
                    <a:lstStyle/>
                    <a:p>
                      <a:pPr algn="l">
                        <a:defRPr sz="950" b="0">
                          <a:solidFill>
                            <a:srgbClr val="1E293B"/>
                          </a:solidFill>
                          <a:latin typeface="Calibri"/>
                        </a:defRPr>
                      </a:pPr>
                      <a:r>
                        <a:t>Crash Recovery</a:t>
                      </a:r>
                    </a:p>
                  </a:txBody>
                  <a:tcPr anchor="ctr">
                    <a:solidFill>
                      <a:srgbClr val="F8FAFC"/>
                    </a:solidFill>
                  </a:tcPr>
                </a:tc>
                <a:tc>
                  <a:txBody>
                    <a:bodyPr/>
                    <a:lstStyle/>
                    <a:p>
                      <a:pPr algn="l">
                        <a:defRPr sz="950" b="0">
                          <a:solidFill>
                            <a:srgbClr val="1E293B"/>
                          </a:solidFill>
                          <a:latin typeface="Calibri"/>
                        </a:defRPr>
                      </a:pPr>
                      <a:r>
                        <a:t>Simulated SIGKILL during active SQLite WAL write</a:t>
                      </a:r>
                    </a:p>
                  </a:txBody>
                  <a:tcPr anchor="ctr">
                    <a:solidFill>
                      <a:srgbClr val="F8FAFC"/>
                    </a:solidFill>
                  </a:tcPr>
                </a:tc>
                <a:tc>
                  <a:txBody>
                    <a:bodyPr/>
                    <a:lstStyle/>
                    <a:p>
                      <a:pPr algn="l">
                        <a:defRPr sz="950" b="0">
                          <a:solidFill>
                            <a:srgbClr val="1E293B"/>
                          </a:solidFill>
                          <a:latin typeface="Calibri"/>
                        </a:defRPr>
                      </a:pPr>
                      <a:r>
                        <a:t>Automatic WAL replay clean; 0 database corruption</a:t>
                      </a:r>
                    </a:p>
                  </a:txBody>
                  <a:tcPr anchor="ctr">
                    <a:solidFill>
                      <a:srgbClr val="F8FAFC"/>
                    </a:solidFill>
                  </a:tcPr>
                </a:tc>
                <a:tc>
                  <a:txBody>
                    <a:bodyPr/>
                    <a:lstStyle/>
                    <a:p>
                      <a:pPr algn="ctr">
                        <a:defRPr sz="950" b="1">
                          <a:solidFill>
                            <a:srgbClr val="10B981"/>
                          </a:solidFill>
                          <a:latin typeface="Calibri"/>
                        </a:defRPr>
                      </a:pPr>
                      <a:r>
                        <a:t>PASSED</a:t>
                      </a:r>
                    </a:p>
                  </a:txBody>
                  <a:tcPr anchor="ctr">
                    <a:solidFill>
                      <a:srgbClr val="F8FAFC"/>
                    </a:solidFill>
                  </a:tcPr>
                </a:tc>
              </a:tr>
            </a:tbl>
          </a:graphicData>
        </a:graphic>
      </p:graphicFrame>
      <p:sp>
        <p:nvSpPr>
          <p:cNvPr id="4" name="TextBox 3"/>
          <p:cNvSpPr txBox="1"/>
          <p:nvPr/>
        </p:nvSpPr>
        <p:spPr>
          <a:xfrm>
            <a:off x="731520" y="5120640"/>
            <a:ext cx="10728655" cy="1463040"/>
          </a:xfrm>
          <a:prstGeom prst="rect">
            <a:avLst/>
          </a:prstGeom>
          <a:noFill/>
        </p:spPr>
        <p:txBody>
          <a:bodyPr wrap="square" lIns="0" tIns="0" rIns="0" bIns="0">
            <a:spAutoFit/>
          </a:bodyPr>
          <a:lstStyle/>
          <a:p>
            <a:pPr>
              <a:spcAft>
                <a:spcPts val="600"/>
              </a:spcAft>
              <a:defRPr sz="1150">
                <a:latin typeface="Calibri"/>
              </a:defRPr>
            </a:pPr>
            <a:r>
              <a:rPr b="1">
                <a:solidFill>
                  <a:srgbClr val="0F172A"/>
                </a:solidFill>
              </a:rPr>
              <a:t>• Failpoint Virtual File System (VFS) Testing: </a:t>
            </a:r>
            <a:r>
              <a:rPr>
                <a:solidFill>
                  <a:srgbClr val="1E293B"/>
                </a:solidFill>
              </a:rPr>
              <a:t>Injected 5,000 simulated kernel write panics and abrupt power loss faults during SQLite checkpoints; achieved 100% automatic recovery with zero data loss.</a:t>
            </a:r>
          </a:p>
          <a:p>
            <a:pPr>
              <a:spcAft>
                <a:spcPts val="600"/>
              </a:spcAft>
              <a:defRPr sz="1150">
                <a:latin typeface="Calibri"/>
              </a:defRPr>
            </a:pPr>
            <a:r>
              <a:rPr b="1">
                <a:solidFill>
                  <a:srgbClr val="0F172A"/>
                </a:solidFill>
              </a:rPr>
              <a:t>• End-to-End Headless Daemon Test Suite: </a:t>
            </a:r>
            <a:r>
              <a:rPr>
                <a:solidFill>
                  <a:srgbClr val="1E293B"/>
                </a:solidFill>
              </a:rPr>
              <a:t>Simulated synthetic mouse and keyboard workflows; validated that captured events appear in MCP search outputs within 1.5 seconds.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lgn="l">
              <a:defRPr sz="2200" b="1">
                <a:solidFill>
                  <a:srgbClr val="0F172A"/>
                </a:solidFill>
                <a:latin typeface="Calibri"/>
              </a:defRPr>
            </a:pPr>
            <a:r>
              <a:t>References</a:t>
            </a:r>
          </a:p>
          <a:p>
            <a:pPr>
              <a:spcBef>
                <a:spcPts val="300"/>
              </a:spcBef>
              <a:defRPr sz="1200" i="1">
                <a:solidFill>
                  <a:srgbClr val="64748B"/>
                </a:solidFill>
                <a:latin typeface="Calibri"/>
              </a:defRPr>
            </a:pPr>
            <a:r>
              <a:t>Formal Academic Literature &amp; Architectural Specifications</a:t>
            </a:r>
          </a:p>
        </p:txBody>
      </p:sp>
      <p:sp>
        <p:nvSpPr>
          <p:cNvPr id="3" name="TextBox 2"/>
          <p:cNvSpPr txBox="1"/>
          <p:nvPr/>
        </p:nvSpPr>
        <p:spPr>
          <a:xfrm>
            <a:off x="731520" y="1645920"/>
            <a:ext cx="10728655" cy="4754880"/>
          </a:xfrm>
          <a:prstGeom prst="rect">
            <a:avLst/>
          </a:prstGeom>
          <a:noFill/>
        </p:spPr>
        <p:txBody>
          <a:bodyPr wrap="square">
            <a:spAutoFit/>
          </a:bodyPr>
          <a:lstStyle/>
          <a:p>
            <a:pPr>
              <a:spcAft>
                <a:spcPts val="1000"/>
              </a:spcAft>
              <a:defRPr sz="1100">
                <a:solidFill>
                  <a:srgbClr val="1E293B"/>
                </a:solidFill>
                <a:latin typeface="Calibri"/>
              </a:defRPr>
            </a:pPr>
            <a:r>
              <a:t>[1] V. Bush, “As We May Think,” The Atlantic Monthly, vol. 176, no. 1, pp. 101–108, Jul. 1945.</a:t>
            </a:r>
          </a:p>
          <a:p>
            <a:pPr>
              <a:spcAft>
                <a:spcPts val="1000"/>
              </a:spcAft>
              <a:defRPr sz="1100">
                <a:solidFill>
                  <a:srgbClr val="1E293B"/>
                </a:solidFill>
                <a:latin typeface="Calibri"/>
              </a:defRPr>
            </a:pPr>
            <a:r>
              <a:t>[2] J. Gemmell, G. Bell, R. Lueder, S. Drucker, and C. Wong, “MyLifeBits: Fulfilling the Memex Vision,” ACM Computers in Entertainment, vol. 1, no. 1, pp. 1–12, Oct. 2003.</a:t>
            </a:r>
          </a:p>
          <a:p>
            <a:pPr>
              <a:spcAft>
                <a:spcPts val="1000"/>
              </a:spcAft>
              <a:defRPr sz="1100">
                <a:solidFill>
                  <a:srgbClr val="1E293B"/>
                </a:solidFill>
                <a:latin typeface="Calibri"/>
              </a:defRPr>
            </a:pPr>
            <a:r>
              <a:t>[3] A. Radford, J. W. Kim, T. Xu, G. Brockman, C. McLeavey, and I. Sutskever, “Robust Speech Recognition via Large-Scale Weak Supervision (Whisper),” in Proc. Int. Conf. on Machine Learning (ICML), pp. 28492–28518, 2023.</a:t>
            </a:r>
          </a:p>
          <a:p>
            <a:pPr>
              <a:spcAft>
                <a:spcPts val="1000"/>
              </a:spcAft>
              <a:defRPr sz="1100">
                <a:solidFill>
                  <a:srgbClr val="1E293B"/>
                </a:solidFill>
                <a:latin typeface="Calibri"/>
              </a:defRPr>
            </a:pPr>
            <a:r>
              <a:t>[4] Silero Team, “Silero VAD: Pre-trained Enterprise-Grade Voice Activity Detector,” GitHub Repository, 2021.</a:t>
            </a:r>
          </a:p>
          <a:p>
            <a:pPr>
              <a:spcAft>
                <a:spcPts val="1000"/>
              </a:spcAft>
              <a:defRPr sz="1100">
                <a:solidFill>
                  <a:srgbClr val="1E293B"/>
                </a:solidFill>
                <a:latin typeface="Calibri"/>
              </a:defRPr>
            </a:pPr>
            <a:r>
              <a:t>[5] D. R. Hipp, “SQLite: An In-Process Database Engine with Full-Text Search (FTS5),” SQLite Consortium Documentation, 2024.</a:t>
            </a:r>
          </a:p>
          <a:p>
            <a:pPr>
              <a:spcAft>
                <a:spcPts val="1000"/>
              </a:spcAft>
              <a:defRPr sz="1100">
                <a:solidFill>
                  <a:srgbClr val="1E293B"/>
                </a:solidFill>
                <a:latin typeface="Calibri"/>
              </a:defRPr>
            </a:pPr>
            <a:r>
              <a:t>[6] A. Biryukov, D. Dinu, and D. Khovratovich, “Argon2: New Generation of Memory-Hard Password Hashing Functions,” in Proc. IEEE European Symposium on Security and Privacy (EuroS&amp;P), pp. 292–302, 2016.</a:t>
            </a:r>
          </a:p>
          <a:p>
            <a:pPr>
              <a:spcAft>
                <a:spcPts val="1000"/>
              </a:spcAft>
              <a:defRPr sz="1100">
                <a:solidFill>
                  <a:srgbClr val="1E293B"/>
                </a:solidFill>
                <a:latin typeface="Calibri"/>
              </a:defRPr>
            </a:pPr>
            <a:r>
              <a:t>[7] D. J. Bernstein, “ChaCha, a Variant of Salsa20,” in SASC 2008 - The State of the Art of Stream Ciphers, pp. 273–278, 2008.</a:t>
            </a:r>
          </a:p>
          <a:p>
            <a:pPr>
              <a:spcAft>
                <a:spcPts val="1000"/>
              </a:spcAft>
              <a:defRPr sz="1100">
                <a:solidFill>
                  <a:srgbClr val="1E293B"/>
                </a:solidFill>
                <a:latin typeface="Calibri"/>
              </a:defRPr>
            </a:pPr>
            <a:r>
              <a:t>[8] Anthropic PBC, “Model Context Protocol (MCP) Specification,” Architecture Documentation, https://modelcontextprotocol.io,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